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0% drift (build's prompt)</c:v>
                </c:pt>
              </c:strCache>
            </c:strRef>
          </c:tx>
          <c:spPr>
            <a:solidFill>
              <a:srgbClr val="2A78D6"/>
            </a:solidFill>
          </c:spPr>
          <c:cat>
            <c:strRef>
              <c:f>Sheet1!$A$2:$A$3</c:f>
              <c:strCache>
                <c:ptCount val="2"/>
                <c:pt idx="0">
                  <c:v>cspaper</c:v>
                </c:pt>
                <c:pt idx="1">
                  <c:v>player</c:v>
                </c:pt>
              </c:strCache>
            </c:strRef>
          </c:cat>
          <c:val>
            <c:numRef>
              <c:f>Sheet1!$B$2:$B$3</c:f>
              <c:numCache>
                <c:formatCode>General</c:formatCode>
                <c:ptCount val="2"/>
                <c:pt idx="0">
                  <c:v>0.162</c:v>
                </c:pt>
                <c:pt idx="1">
                  <c:v>0.401</c:v>
                </c:pt>
              </c:numCache>
            </c:numRef>
          </c:val>
        </c:ser>
        <c:ser>
          <c:idx val="1"/>
          <c:order val="1"/>
          <c:tx>
            <c:strRef>
              <c:f>Sheet1!$C$1</c:f>
              <c:strCache>
                <c:ptCount val="1"/>
                <c:pt idx="0">
                  <c:v>100% drift, patch prompt</c:v>
                </c:pt>
              </c:strCache>
            </c:strRef>
          </c:tx>
          <c:spPr>
            <a:solidFill>
              <a:srgbClr val="EB6834"/>
            </a:solidFill>
          </c:spPr>
          <c:cat>
            <c:strRef>
              <c:f>Sheet1!$A$2:$A$3</c:f>
              <c:strCache>
                <c:ptCount val="2"/>
                <c:pt idx="0">
                  <c:v>cspaper</c:v>
                </c:pt>
                <c:pt idx="1">
                  <c:v>player</c:v>
                </c:pt>
              </c:strCache>
            </c:strRef>
          </c:cat>
          <c:val>
            <c:numRef>
              <c:f>Sheet1!$C$2:$C$3</c:f>
              <c:numCache>
                <c:formatCode>General</c:formatCode>
                <c:ptCount val="2"/>
                <c:pt idx="0">
                  <c:v>0.224</c:v>
                </c:pt>
                <c:pt idx="1">
                  <c:v>0.421</c:v>
                </c:pt>
              </c:numCache>
            </c:numRef>
          </c:val>
        </c:ser>
        <c:ser>
          <c:idx val="2"/>
          <c:order val="2"/>
          <c:tx>
            <c:strRef>
              <c:f>Sheet1!$D$1</c:f>
              <c:strCache>
                <c:ptCount val="1"/>
                <c:pt idx="0">
                  <c:v>Patch with build's grouping</c:v>
                </c:pt>
              </c:strCache>
            </c:strRef>
          </c:tx>
          <c:spPr>
            <a:solidFill>
              <a:srgbClr val="1BAF7A"/>
            </a:solidFill>
          </c:spPr>
          <c:cat>
            <c:strRef>
              <c:f>Sheet1!$A$2:$A$3</c:f>
              <c:strCache>
                <c:ptCount val="2"/>
                <c:pt idx="0">
                  <c:v>cspaper</c:v>
                </c:pt>
                <c:pt idx="1">
                  <c:v>player</c:v>
                </c:pt>
              </c:strCache>
            </c:strRef>
          </c:cat>
          <c:val>
            <c:numRef>
              <c:f>Sheet1!$D$2:$D$3</c:f>
              <c:numCache>
                <c:formatCode>General</c:formatCode>
                <c:ptCount val="2"/>
                <c:pt idx="0">
                  <c:v>0.155</c:v>
                </c:pt>
                <c:pt idx="1">
                  <c:v>0.411</c:v>
                </c:pt>
              </c:numCache>
            </c:numRef>
          </c:val>
        </c:ser>
        <c:ser>
          <c:idx val="3"/>
          <c:order val="3"/>
          <c:tx>
            <c:strRef>
              <c:f>Sheet1!$E$1</c:f>
              <c:strCache>
                <c:ptCount val="1"/>
                <c:pt idx="0">
                  <c:v>Patch with build's wording</c:v>
                </c:pt>
              </c:strCache>
            </c:strRef>
          </c:tx>
          <c:spPr>
            <a:solidFill>
              <a:srgbClr val="EDA100"/>
            </a:solidFill>
          </c:spPr>
          <c:cat>
            <c:strRef>
              <c:f>Sheet1!$A$2:$A$3</c:f>
              <c:strCache>
                <c:ptCount val="2"/>
                <c:pt idx="0">
                  <c:v>cspaper</c:v>
                </c:pt>
                <c:pt idx="1">
                  <c:v>player</c:v>
                </c:pt>
              </c:strCache>
            </c:strRef>
          </c:cat>
          <c:val>
            <c:numRef>
              <c:f>Sheet1!$E$2:$E$3</c:f>
              <c:numCache>
                <c:formatCode>General</c:formatCode>
                <c:ptCount val="2"/>
                <c:pt idx="0">
                  <c:v>0.227</c:v>
                </c:pt>
                <c:pt idx="1">
                  <c:v>0.418</c:v>
                </c:pt>
              </c:numCache>
            </c:numRef>
          </c:val>
        </c:ser>
        <c:dLbls>
          <c:numFmt formatCode="0.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0D9"/>
              </a:solidFill>
            </a:ln>
          </c:spPr>
        </c:majorGridlines>
        <c:majorTickMark val="out"/>
        <c:minorTickMark val="none"/>
        <c:tickLblPos val="nextTo"/>
        <c:spPr>
          <a:ln>
            <a:noFill/>
          </a:ln>
        </c:spPr>
        <c:txPr>
          <a:bodyPr/>
          <a:lstStyle/>
          <a:p>
            <a:pPr>
              <a:defRPr sz="1000"/>
            </a:pPr>
          </a:p>
        </c:txPr>
        <c:crossAx val="-2068027336"/>
        <c:crosses val="autoZero"/>
      </c:valAx>
    </c:plotArea>
    <c:legend>
      <c:legendPos val="t"/>
      <c:overlay val="0"/>
    </c:legend>
    <c:dispBlanksAs val="gap"/>
  </c:chart>
  <c:txPr>
    <a:bodyPr/>
    <a:lstStyle/>
    <a:p>
      <a:pPr>
        <a:defRPr sz="11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All new columns</c:v>
                </c:pt>
              </c:strCache>
            </c:strRef>
          </c:tx>
          <c:spPr>
            <a:solidFill>
              <a:srgbClr val="2A78D6"/>
            </a:solidFill>
          </c:spPr>
          <c:cat>
            <c:strRef>
              <c:f>Sheet1!$A$2:$A$6</c:f>
              <c:strCache>
                <c:ptCount val="5"/>
                <c:pt idx="0">
                  <c:v>player</c:v>
                </c:pt>
                <c:pt idx="1">
                  <c:v>art</c:v>
                </c:pt>
                <c:pt idx="2">
                  <c:v>cspaper</c:v>
                </c:pt>
                <c:pt idx="3">
                  <c:v>med</c:v>
                </c:pt>
                <c:pt idx="4">
                  <c:v>legal</c:v>
                </c:pt>
              </c:strCache>
            </c:strRef>
          </c:cat>
          <c:val>
            <c:numRef>
              <c:f>Sheet1!$B$2:$B$6</c:f>
              <c:numCache>
                <c:formatCode>General</c:formatCode>
                <c:ptCount val="5"/>
                <c:pt idx="0">
                  <c:v>0.028</c:v>
                </c:pt>
                <c:pt idx="1">
                  <c:v>0.044</c:v>
                </c:pt>
                <c:pt idx="2">
                  <c:v>0.032</c:v>
                </c:pt>
                <c:pt idx="3">
                  <c:v>0.109</c:v>
                </c:pt>
                <c:pt idx="4">
                  <c:v>0.11</c:v>
                </c:pt>
              </c:numCache>
            </c:numRef>
          </c:val>
        </c:ser>
        <c:ser>
          <c:idx val="1"/>
          <c:order val="1"/>
          <c:tx>
            <c:strRef>
              <c:f>Sheet1!$C$1</c:f>
              <c:strCache>
                <c:ptCount val="1"/>
                <c:pt idx="0">
                  <c:v>Free-text columns only</c:v>
                </c:pt>
              </c:strCache>
            </c:strRef>
          </c:tx>
          <c:spPr>
            <a:solidFill>
              <a:srgbClr val="EB6834"/>
            </a:solidFill>
          </c:spPr>
          <c:cat>
            <c:strRef>
              <c:f>Sheet1!$A$2:$A$6</c:f>
              <c:strCache>
                <c:ptCount val="5"/>
                <c:pt idx="0">
                  <c:v>player</c:v>
                </c:pt>
                <c:pt idx="1">
                  <c:v>art</c:v>
                </c:pt>
                <c:pt idx="2">
                  <c:v>cspaper</c:v>
                </c:pt>
                <c:pt idx="3">
                  <c:v>med</c:v>
                </c:pt>
                <c:pt idx="4">
                  <c:v>legal</c:v>
                </c:pt>
              </c:strCache>
            </c:strRef>
          </c:cat>
          <c:val>
            <c:numRef>
              <c:f>Sheet1!$C$2:$C$6</c:f>
              <c:numCache>
                <c:formatCode>General</c:formatCode>
                <c:ptCount val="5"/>
                <c:pt idx="0">
                  <c:v>0.041</c:v>
                </c:pt>
                <c:pt idx="1">
                  <c:v>0.041</c:v>
                </c:pt>
                <c:pt idx="2">
                  <c:v>0.015</c:v>
                </c:pt>
                <c:pt idx="3">
                  <c:v>0.08</c:v>
                </c:pt>
                <c:pt idx="4">
                  <c:v>0.11</c:v>
                </c:pt>
              </c:numCache>
            </c:numRef>
          </c:val>
        </c:ser>
        <c:dLbls>
          <c:numFmt formatCode="0.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0D9"/>
              </a:solidFill>
            </a:ln>
          </c:spPr>
        </c:majorGridlines>
        <c:majorTickMark val="out"/>
        <c:minorTickMark val="none"/>
        <c:tickLblPos val="nextTo"/>
        <c:spPr>
          <a:ln>
            <a:noFill/>
          </a:ln>
        </c:spPr>
        <c:txPr>
          <a:bodyPr/>
          <a:lstStyle/>
          <a:p>
            <a:pPr>
              <a:defRPr sz="1000"/>
            </a:pPr>
          </a:p>
        </c:txPr>
        <c:crossAx val="-2068027336"/>
        <c:crosses val="autoZero"/>
      </c:valAx>
    </c:plotArea>
    <c:legend>
      <c:legendPos val="t"/>
      <c:overlay val="0"/>
    </c:legend>
    <c:dispBlanksAs val="gap"/>
  </c:chart>
  <c:txPr>
    <a:bodyPr/>
    <a:lstStyle/>
    <a:p>
      <a:pPr>
        <a:defRPr sz="11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Every column anticipated (0% drift)</c:v>
                </c:pt>
              </c:strCache>
            </c:strRef>
          </c:tx>
          <c:spPr>
            <a:solidFill>
              <a:srgbClr val="2A78D6"/>
            </a:solidFill>
          </c:spPr>
          <c:cat>
            <c:strRef>
              <c:f>Sheet1!$A$2:$A$6</c:f>
              <c:strCache>
                <c:ptCount val="5"/>
                <c:pt idx="0">
                  <c:v>cspaper</c:v>
                </c:pt>
                <c:pt idx="1">
                  <c:v>player</c:v>
                </c:pt>
                <c:pt idx="2">
                  <c:v>art</c:v>
                </c:pt>
                <c:pt idx="3">
                  <c:v>med</c:v>
                </c:pt>
                <c:pt idx="4">
                  <c:v>legal</c:v>
                </c:pt>
              </c:strCache>
            </c:strRef>
          </c:cat>
          <c:val>
            <c:numRef>
              <c:f>Sheet1!$B$2:$B$6</c:f>
              <c:numCache>
                <c:formatCode>General</c:formatCode>
                <c:ptCount val="5"/>
                <c:pt idx="0">
                  <c:v>0.058</c:v>
                </c:pt>
                <c:pt idx="1">
                  <c:v>0.214</c:v>
                </c:pt>
                <c:pt idx="2">
                  <c:v>0.339</c:v>
                </c:pt>
                <c:pt idx="3">
                  <c:v>0.286</c:v>
                </c:pt>
                <c:pt idx="4">
                  <c:v>0.503</c:v>
                </c:pt>
              </c:numCache>
            </c:numRef>
          </c:val>
        </c:ser>
        <c:ser>
          <c:idx val="1"/>
          <c:order val="1"/>
          <c:tx>
            <c:strRef>
              <c:f>Sheet1!$C$1</c:f>
              <c:strCache>
                <c:ptCount val="1"/>
                <c:pt idx="0">
                  <c:v>None anticipated (100% drift)</c:v>
                </c:pt>
              </c:strCache>
            </c:strRef>
          </c:tx>
          <c:spPr>
            <a:solidFill>
              <a:srgbClr val="EB6834"/>
            </a:solidFill>
          </c:spPr>
          <c:cat>
            <c:strRef>
              <c:f>Sheet1!$A$2:$A$6</c:f>
              <c:strCache>
                <c:ptCount val="5"/>
                <c:pt idx="0">
                  <c:v>cspaper</c:v>
                </c:pt>
                <c:pt idx="1">
                  <c:v>player</c:v>
                </c:pt>
                <c:pt idx="2">
                  <c:v>art</c:v>
                </c:pt>
                <c:pt idx="3">
                  <c:v>med</c:v>
                </c:pt>
                <c:pt idx="4">
                  <c:v>legal</c:v>
                </c:pt>
              </c:strCache>
            </c:strRef>
          </c:cat>
          <c:val>
            <c:numRef>
              <c:f>Sheet1!$C$2:$C$6</c:f>
              <c:numCache>
                <c:formatCode>General</c:formatCode>
                <c:ptCount val="5"/>
                <c:pt idx="0">
                  <c:v>0.16</c:v>
                </c:pt>
                <c:pt idx="1">
                  <c:v>0.778</c:v>
                </c:pt>
                <c:pt idx="2">
                  <c:v>0.881</c:v>
                </c:pt>
                <c:pt idx="3">
                  <c:v>1.677</c:v>
                </c:pt>
                <c:pt idx="4">
                  <c:v>2.456</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0D9"/>
              </a:solidFill>
            </a:ln>
          </c:spPr>
        </c:majorGridlines>
        <c:majorTickMark val="out"/>
        <c:minorTickMark val="none"/>
        <c:tickLblPos val="nextTo"/>
        <c:spPr>
          <a:ln>
            <a:noFill/>
          </a:ln>
        </c:spPr>
        <c:txPr>
          <a:bodyPr/>
          <a:lstStyle/>
          <a:p>
            <a:pPr>
              <a:defRPr sz="1000"/>
            </a:pPr>
          </a:p>
        </c:txPr>
        <c:crossAx val="-2068027336"/>
        <c:crosses val="autoZero"/>
      </c:valAx>
    </c:plotArea>
    <c:legend>
      <c:legendPos val="t"/>
      <c:overlay val="0"/>
    </c:legend>
    <c:dispBlanksAs val="gap"/>
  </c:chart>
  <c:txPr>
    <a:bodyPr/>
    <a:lstStyle/>
    <a:p>
      <a:pPr>
        <a:defRPr sz="11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731520" y="1828800"/>
            <a:ext cx="10698480" cy="1463040"/>
          </a:xfrm>
          <a:prstGeom prst="rect">
            <a:avLst/>
          </a:prstGeom>
          <a:noFill/>
        </p:spPr>
        <p:txBody>
          <a:bodyPr wrap="square" anchor="t" lIns="45720" rIns="45720">
            <a:spAutoFit/>
          </a:bodyPr>
          <a:lstStyle/>
          <a:p>
            <a:pPr algn="l">
              <a:spcAft>
                <a:spcPts val="600"/>
              </a:spcAft>
            </a:pPr>
            <a:r>
              <a:rPr sz="3600" b="1">
                <a:solidFill>
                  <a:srgbClr val="0B0B0B"/>
                </a:solidFill>
              </a:rPr>
              <a:t>Keeping LLM-built databases accurate when the query workload changes</a:t>
            </a:r>
          </a:p>
        </p:txBody>
      </p:sp>
      <p:sp>
        <p:nvSpPr>
          <p:cNvPr id="3" name="TextBox 2"/>
          <p:cNvSpPr txBox="1"/>
          <p:nvPr/>
        </p:nvSpPr>
        <p:spPr>
          <a:xfrm>
            <a:off x="731520" y="3291840"/>
            <a:ext cx="10698480" cy="1463040"/>
          </a:xfrm>
          <a:prstGeom prst="rect">
            <a:avLst/>
          </a:prstGeom>
          <a:noFill/>
        </p:spPr>
        <p:txBody>
          <a:bodyPr wrap="square" anchor="t" lIns="45720" rIns="45720">
            <a:spAutoFit/>
          </a:bodyPr>
          <a:lstStyle/>
          <a:p>
            <a:pPr algn="l">
              <a:spcAft>
                <a:spcPts val="600"/>
              </a:spcAft>
            </a:pPr>
            <a:r>
              <a:rPr sz="1800" b="0">
                <a:solidFill>
                  <a:srgbClr val="52514E"/>
                </a:solidFill>
              </a:rPr>
              <a:t>Experiments and findings: when to extract columns up front vs on demand, how to spend a limited extraction budget, which parts of the system matter, and what it costs</a:t>
            </a:r>
          </a:p>
        </p:txBody>
      </p:sp>
      <p:sp>
        <p:nvSpPr>
          <p:cNvPr id="4" name="TextBox 3"/>
          <p:cNvSpPr txBox="1"/>
          <p:nvPr/>
        </p:nvSpPr>
        <p:spPr>
          <a:xfrm>
            <a:off x="731520" y="5120640"/>
            <a:ext cx="10698480" cy="822960"/>
          </a:xfrm>
          <a:prstGeom prst="rect">
            <a:avLst/>
          </a:prstGeom>
          <a:noFill/>
        </p:spPr>
        <p:txBody>
          <a:bodyPr wrap="square" anchor="t" lIns="45720" rIns="45720">
            <a:spAutoFit/>
          </a:bodyPr>
          <a:lstStyle/>
          <a:p>
            <a:pPr algn="l">
              <a:spcAft>
                <a:spcPts val="600"/>
              </a:spcAft>
            </a:pPr>
            <a:r>
              <a:rPr sz="1400" b="0">
                <a:solidFill>
                  <a:srgbClr val="898781"/>
                </a:solidFill>
              </a:rPr>
              <a:t>Five document corpora · 290 test queries · open models served locally (Qwen 2.5 7B, Llama 3.1 8B, Qwen 2.5 32B)</a:t>
            </a:r>
          </a:p>
          <a:p>
            <a:pPr algn="l">
              <a:spcAft>
                <a:spcPts val="600"/>
              </a:spcAft>
            </a:pPr>
            <a:r>
              <a:rPr sz="1400" b="0">
                <a:solidFill>
                  <a:srgbClr val="898781"/>
                </a:solidFill>
              </a:rPr>
              <a:t>Status as of 7 October 2026: results marked Running are still being computed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The setting: answering SQL over documents with an LLM-built database</a:t>
            </a:r>
          </a:p>
        </p:txBody>
      </p:sp>
      <p:sp>
        <p:nvSpPr>
          <p:cNvPr id="3" name="Rounded Rectangle 2"/>
          <p:cNvSpPr/>
          <p:nvPr/>
        </p:nvSpPr>
        <p:spPr>
          <a:xfrm>
            <a:off x="10287000" y="347472"/>
            <a:ext cx="1600200" cy="384048"/>
          </a:xfrm>
          <a:prstGeom prst="roundRect">
            <a:avLst/>
          </a:prstGeom>
          <a:solidFill>
            <a:srgbClr val="52514E"/>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Context</a:t>
            </a:r>
          </a:p>
        </p:txBody>
      </p:sp>
      <p:cxnSp>
        <p:nvCxnSpPr>
          <p:cNvPr id="4" name="Connector 3"/>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554480"/>
            <a:ext cx="5760720" cy="4754880"/>
          </a:xfrm>
          <a:prstGeom prst="rect">
            <a:avLst/>
          </a:prstGeom>
          <a:noFill/>
        </p:spPr>
        <p:txBody>
          <a:bodyPr wrap="square" anchor="t" lIns="45720" rIns="45720">
            <a:spAutoFit/>
          </a:bodyPr>
          <a:lstStyle/>
          <a:p>
            <a:pPr algn="l">
              <a:spcAft>
                <a:spcPts val="600"/>
              </a:spcAft>
            </a:pPr>
            <a:r>
              <a:rPr sz="1500" b="0">
                <a:solidFill>
                  <a:srgbClr val="0B0B0B"/>
                </a:solidFill>
              </a:rPr>
              <a:t>•  An LLM reads each document and fills table columns (e.g. a player's team, draft year); SQL queries then run on these tables.</a:t>
            </a:r>
          </a:p>
          <a:p>
            <a:pPr algn="l">
              <a:spcAft>
                <a:spcPts val="600"/>
              </a:spcAft>
            </a:pPr>
            <a:r>
              <a:rPr sz="1500" b="0">
                <a:solidFill>
                  <a:srgbClr val="0B0B0B"/>
                </a:solidFill>
              </a:rPr>
              <a:t>•  Build: before any query arrives, the system reads every document once for the columns its known workload uses.</a:t>
            </a:r>
          </a:p>
          <a:p>
            <a:pPr algn="l">
              <a:spcAft>
                <a:spcPts val="600"/>
              </a:spcAft>
            </a:pPr>
            <a:r>
              <a:rPr sz="1500" b="0">
                <a:solidFill>
                  <a:srgbClr val="0B0B0B"/>
                </a:solidFill>
              </a:rPr>
              <a:t>•  Patch (on-demand extraction): when a new query needs a column the build did not read, the system reads that column then, only on the documents the query's filters can select, and keeps it for later queries.</a:t>
            </a:r>
          </a:p>
          <a:p>
            <a:pPr algn="l">
              <a:spcAft>
                <a:spcPts val="600"/>
              </a:spcAft>
            </a:pPr>
            <a:r>
              <a:rPr sz="1500" b="0">
                <a:solidFill>
                  <a:srgbClr val="0B0B0B"/>
                </a:solidFill>
              </a:rPr>
              <a:t>•  Workload drift: later queries need columns nobody anticipated. A drift level of p% means p% of the new columns were left out of the build (0% = all anticipated, 100% = none).</a:t>
            </a:r>
          </a:p>
          <a:p>
            <a:pPr algn="l">
              <a:spcAft>
                <a:spcPts val="600"/>
              </a:spcAft>
            </a:pPr>
            <a:r>
              <a:rPr sz="1500" b="0">
                <a:solidFill>
                  <a:srgbClr val="0B0B0B"/>
                </a:solidFill>
              </a:rPr>
              <a:t>•  Static build (the baseline without patching): answers every query from the build alone.</a:t>
            </a:r>
          </a:p>
        </p:txBody>
      </p:sp>
      <p:sp>
        <p:nvSpPr>
          <p:cNvPr id="6" name="TextBox 5"/>
          <p:cNvSpPr txBox="1"/>
          <p:nvPr/>
        </p:nvSpPr>
        <p:spPr>
          <a:xfrm>
            <a:off x="6492240" y="1554480"/>
            <a:ext cx="5303520" cy="4754880"/>
          </a:xfrm>
          <a:prstGeom prst="rect">
            <a:avLst/>
          </a:prstGeom>
          <a:noFill/>
        </p:spPr>
        <p:txBody>
          <a:bodyPr wrap="square" anchor="t" lIns="45720" rIns="45720">
            <a:spAutoFit/>
          </a:bodyPr>
          <a:lstStyle/>
          <a:p>
            <a:pPr algn="l">
              <a:spcAft>
                <a:spcPts val="600"/>
              </a:spcAft>
            </a:pPr>
            <a:r>
              <a:rPr sz="1700" b="1">
                <a:solidFill>
                  <a:srgbClr val="0B0B0B"/>
                </a:solidFill>
              </a:rPr>
              <a:t>Questions studied</a:t>
            </a:r>
          </a:p>
          <a:p>
            <a:pPr algn="l">
              <a:spcAft>
                <a:spcPts val="600"/>
              </a:spcAft>
            </a:pPr>
            <a:r>
              <a:rPr sz="1400" b="0">
                <a:solidFill>
                  <a:srgbClr val="0B0B0B"/>
                </a:solidFill>
              </a:rPr>
              <a:t>•  When should a column be extracted up front, and when on demand?</a:t>
            </a:r>
          </a:p>
          <a:p>
            <a:pPr algn="l">
              <a:spcAft>
                <a:spcPts val="600"/>
              </a:spcAft>
            </a:pPr>
            <a:r>
              <a:rPr sz="1400" b="0">
                <a:solidFill>
                  <a:srgbClr val="0B0B0B"/>
                </a:solidFill>
              </a:rPr>
              <a:t>•  Is a column read more accurately when a prompt asks for fewer columns?</a:t>
            </a:r>
          </a:p>
          <a:p>
            <a:pPr algn="l">
              <a:spcAft>
                <a:spcPts val="600"/>
              </a:spcAft>
            </a:pPr>
            <a:r>
              <a:rPr sz="1400" b="0">
                <a:solidFill>
                  <a:srgbClr val="0B0B0B"/>
                </a:solidFill>
              </a:rPr>
              <a:t>•  How should a limited extraction budget be spent?</a:t>
            </a:r>
          </a:p>
          <a:p>
            <a:pPr algn="l">
              <a:spcAft>
                <a:spcPts val="600"/>
              </a:spcAft>
            </a:pPr>
            <a:r>
              <a:rPr sz="1400" b="0">
                <a:solidFill>
                  <a:srgbClr val="0B0B0B"/>
                </a:solidFill>
              </a:rPr>
              <a:t>•  Can an extraction's cost and value be predicted before running it?</a:t>
            </a:r>
          </a:p>
          <a:p>
            <a:pPr algn="l">
              <a:spcAft>
                <a:spcPts val="600"/>
              </a:spcAft>
            </a:pPr>
            <a:r>
              <a:rPr sz="1400" b="0">
                <a:solidFill>
                  <a:srgbClr val="0B0B0B"/>
                </a:solidFill>
              </a:rPr>
              <a:t>•  Does a cost-based extraction planner beat one shared extraction pass?</a:t>
            </a:r>
          </a:p>
          <a:p>
            <a:pPr algn="l">
              <a:spcAft>
                <a:spcPts val="600"/>
              </a:spcAft>
            </a:pPr>
            <a:r>
              <a:rPr sz="1400" b="0">
                <a:solidFill>
                  <a:srgbClr val="0B0B0B"/>
                </a:solidFill>
              </a:rPr>
              <a:t>•  Does the order of extractions change the answers?</a:t>
            </a:r>
          </a:p>
          <a:p>
            <a:pPr algn="l">
              <a:spcAft>
                <a:spcPts val="600"/>
              </a:spcAft>
            </a:pPr>
            <a:r>
              <a:rPr sz="1400" b="0">
                <a:solidFill>
                  <a:srgbClr val="0B0B0B"/>
                </a:solidFill>
              </a:rPr>
              <a:t>•  Do the conclusions hold across models?</a:t>
            </a:r>
          </a:p>
          <a:p>
            <a:pPr algn="l">
              <a:spcAft>
                <a:spcPts val="600"/>
              </a:spcAft>
            </a:pPr>
            <a:r>
              <a:rPr sz="1400" b="0">
                <a:solidFill>
                  <a:srgbClr val="0B0B0B"/>
                </a:solidFill>
              </a:rPr>
              <a:t>•  Where do LLM-built databases lose accuracy, and which system components matter?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Data, model, metric and statistics</a:t>
            </a:r>
          </a:p>
        </p:txBody>
      </p:sp>
      <p:sp>
        <p:nvSpPr>
          <p:cNvPr id="3" name="Rounded Rectangle 2"/>
          <p:cNvSpPr/>
          <p:nvPr/>
        </p:nvSpPr>
        <p:spPr>
          <a:xfrm>
            <a:off x="10287000" y="347472"/>
            <a:ext cx="1600200" cy="384048"/>
          </a:xfrm>
          <a:prstGeom prst="roundRect">
            <a:avLst/>
          </a:prstGeom>
          <a:solidFill>
            <a:srgbClr val="52514E"/>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Context</a:t>
            </a:r>
          </a:p>
        </p:txBody>
      </p:sp>
      <p:cxnSp>
        <p:nvCxnSpPr>
          <p:cNvPr id="4" name="Connector 3"/>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57200" y="1600200"/>
          <a:ext cx="6766559" cy="1975104"/>
        </p:xfrm>
        <a:graphic>
          <a:graphicData uri="http://schemas.openxmlformats.org/drawingml/2006/table">
            <a:tbl>
              <a:tblPr firstRow="1" bandRow="1">
                <a:tableStyleId>{5C22544A-7EE6-4342-B048-85BDC9FD1C3A}</a:tableStyleId>
              </a:tblPr>
              <a:tblGrid>
                <a:gridCol w="3749039"/>
                <a:gridCol w="1005840"/>
                <a:gridCol w="822960"/>
                <a:gridCol w="1188720"/>
              </a:tblGrid>
              <a:tr h="329184">
                <a:tc>
                  <a:txBody>
                    <a:bodyPr/>
                    <a:lstStyle/>
                    <a:p>
                      <a:r>
                        <a:rPr sz="1200" b="1">
                          <a:solidFill>
                            <a:srgbClr val="0B0B0B"/>
                          </a:solidFill>
                        </a:rPr>
                        <a:t>Corpus (short name)</a:t>
                      </a:r>
                    </a:p>
                  </a:txBody>
                  <a:tcPr marL="54864" marR="54864" marT="27432" marB="27432">
                    <a:solidFill>
                      <a:srgbClr val="F1F0EC"/>
                    </a:solidFill>
                  </a:tcPr>
                </a:tc>
                <a:tc>
                  <a:txBody>
                    <a:bodyPr/>
                    <a:lstStyle/>
                    <a:p>
                      <a:r>
                        <a:rPr sz="1200" b="1">
                          <a:solidFill>
                            <a:srgbClr val="0B0B0B"/>
                          </a:solidFill>
                        </a:rPr>
                        <a:t>Documents</a:t>
                      </a:r>
                    </a:p>
                  </a:txBody>
                  <a:tcPr marL="54864" marR="54864" marT="27432" marB="27432">
                    <a:solidFill>
                      <a:srgbClr val="F1F0EC"/>
                    </a:solidFill>
                  </a:tcPr>
                </a:tc>
                <a:tc>
                  <a:txBody>
                    <a:bodyPr/>
                    <a:lstStyle/>
                    <a:p>
                      <a:r>
                        <a:rPr sz="1200" b="1">
                          <a:solidFill>
                            <a:srgbClr val="0B0B0B"/>
                          </a:solidFill>
                        </a:rPr>
                        <a:t>Tables</a:t>
                      </a:r>
                    </a:p>
                  </a:txBody>
                  <a:tcPr marL="54864" marR="54864" marT="27432" marB="27432">
                    <a:solidFill>
                      <a:srgbClr val="F1F0EC"/>
                    </a:solidFill>
                  </a:tcPr>
                </a:tc>
                <a:tc>
                  <a:txBody>
                    <a:bodyPr/>
                    <a:lstStyle/>
                    <a:p>
                      <a:r>
                        <a:rPr sz="1200" b="1">
                          <a:solidFill>
                            <a:srgbClr val="0B0B0B"/>
                          </a:solidFill>
                        </a:rPr>
                        <a:t>Test queries</a:t>
                      </a:r>
                    </a:p>
                  </a:txBody>
                  <a:tcPr marL="54864" marR="54864" marT="27432" marB="27432">
                    <a:solidFill>
                      <a:srgbClr val="F1F0EC"/>
                    </a:solidFill>
                  </a:tcPr>
                </a:tc>
              </a:tr>
              <a:tr h="329184">
                <a:tc>
                  <a:txBody>
                    <a:bodyPr/>
                    <a:lstStyle/>
                    <a:p>
                      <a:r>
                        <a:rPr sz="1200" b="0">
                          <a:solidFill>
                            <a:srgbClr val="0B0B0B"/>
                          </a:solidFill>
                        </a:rPr>
                        <a:t>Research papers (cspaper)</a:t>
                      </a:r>
                    </a:p>
                  </a:txBody>
                  <a:tcPr marL="54864" marR="54864" marT="27432" marB="27432">
                    <a:solidFill>
                      <a:srgbClr val="FFFFFF"/>
                    </a:solidFill>
                  </a:tcPr>
                </a:tc>
                <a:tc>
                  <a:txBody>
                    <a:bodyPr/>
                    <a:lstStyle/>
                    <a:p>
                      <a:r>
                        <a:rPr sz="1200" b="0">
                          <a:solidFill>
                            <a:srgbClr val="0B0B0B"/>
                          </a:solidFill>
                        </a:rPr>
                        <a:t>200</a:t>
                      </a:r>
                    </a:p>
                  </a:txBody>
                  <a:tcPr marL="54864" marR="54864" marT="27432" marB="27432">
                    <a:solidFill>
                      <a:srgbClr val="FFFFFF"/>
                    </a:solidFill>
                  </a:tcPr>
                </a:tc>
                <a:tc>
                  <a:txBody>
                    <a:bodyPr/>
                    <a:lstStyle/>
                    <a:p>
                      <a:r>
                        <a:rPr sz="1200" b="0">
                          <a:solidFill>
                            <a:srgbClr val="0B0B0B"/>
                          </a:solidFill>
                        </a:rPr>
                        <a:t>1</a:t>
                      </a:r>
                    </a:p>
                  </a:txBody>
                  <a:tcPr marL="54864" marR="54864" marT="27432" marB="27432">
                    <a:solidFill>
                      <a:srgbClr val="FFFFFF"/>
                    </a:solidFill>
                  </a:tcPr>
                </a:tc>
                <a:tc>
                  <a:txBody>
                    <a:bodyPr/>
                    <a:lstStyle/>
                    <a:p>
                      <a:r>
                        <a:rPr sz="1200" b="0">
                          <a:solidFill>
                            <a:srgbClr val="0B0B0B"/>
                          </a:solidFill>
                        </a:rPr>
                        <a:t>59</a:t>
                      </a:r>
                    </a:p>
                  </a:txBody>
                  <a:tcPr marL="54864" marR="54864" marT="27432" marB="27432">
                    <a:solidFill>
                      <a:srgbClr val="FFFFFF"/>
                    </a:solidFill>
                  </a:tcPr>
                </a:tc>
              </a:tr>
              <a:tr h="329184">
                <a:tc>
                  <a:txBody>
                    <a:bodyPr/>
                    <a:lstStyle/>
                    <a:p>
                      <a:r>
                        <a:rPr sz="1200" b="0">
                          <a:solidFill>
                            <a:srgbClr val="0B0B0B"/>
                          </a:solidFill>
                        </a:rPr>
                        <a:t>Basketball players, teams, cities (player)</a:t>
                      </a:r>
                    </a:p>
                  </a:txBody>
                  <a:tcPr marL="54864" marR="54864" marT="27432" marB="27432">
                    <a:solidFill>
                      <a:srgbClr val="FFFFFF"/>
                    </a:solidFill>
                  </a:tcPr>
                </a:tc>
                <a:tc>
                  <a:txBody>
                    <a:bodyPr/>
                    <a:lstStyle/>
                    <a:p>
                      <a:r>
                        <a:rPr sz="1200" b="0">
                          <a:solidFill>
                            <a:srgbClr val="0B0B0B"/>
                          </a:solidFill>
                        </a:rPr>
                        <a:t>216</a:t>
                      </a:r>
                    </a:p>
                  </a:txBody>
                  <a:tcPr marL="54864" marR="54864" marT="27432" marB="27432">
                    <a:solidFill>
                      <a:srgbClr val="FFFFFF"/>
                    </a:solidFill>
                  </a:tcPr>
                </a:tc>
                <a:tc>
                  <a:txBody>
                    <a:bodyPr/>
                    <a:lstStyle/>
                    <a:p>
                      <a:r>
                        <a:rPr sz="1200" b="0">
                          <a:solidFill>
                            <a:srgbClr val="0B0B0B"/>
                          </a:solidFill>
                        </a:rPr>
                        <a:t>4</a:t>
                      </a:r>
                    </a:p>
                  </a:txBody>
                  <a:tcPr marL="54864" marR="54864" marT="27432" marB="27432">
                    <a:solidFill>
                      <a:srgbClr val="FFFFFF"/>
                    </a:solidFill>
                  </a:tcPr>
                </a:tc>
                <a:tc>
                  <a:txBody>
                    <a:bodyPr/>
                    <a:lstStyle/>
                    <a:p>
                      <a:r>
                        <a:rPr sz="1200" b="0">
                          <a:solidFill>
                            <a:srgbClr val="0B0B0B"/>
                          </a:solidFill>
                        </a:rPr>
                        <a:t>118</a:t>
                      </a:r>
                    </a:p>
                  </a:txBody>
                  <a:tcPr marL="54864" marR="54864" marT="27432" marB="27432">
                    <a:solidFill>
                      <a:srgbClr val="FFFFFF"/>
                    </a:solidFill>
                  </a:tcPr>
                </a:tc>
              </a:tr>
              <a:tr h="329184">
                <a:tc>
                  <a:txBody>
                    <a:bodyPr/>
                    <a:lstStyle/>
                    <a:p>
                      <a:r>
                        <a:rPr sz="1200" b="0">
                          <a:solidFill>
                            <a:srgbClr val="0B0B0B"/>
                          </a:solidFill>
                        </a:rPr>
                        <a:t>Artists (art)</a:t>
                      </a:r>
                    </a:p>
                  </a:txBody>
                  <a:tcPr marL="54864" marR="54864" marT="27432" marB="27432">
                    <a:solidFill>
                      <a:srgbClr val="FFFFFF"/>
                    </a:solidFill>
                  </a:tcPr>
                </a:tc>
                <a:tc>
                  <a:txBody>
                    <a:bodyPr/>
                    <a:lstStyle/>
                    <a:p>
                      <a:r>
                        <a:rPr sz="1200" b="0">
                          <a:solidFill>
                            <a:srgbClr val="0B0B0B"/>
                          </a:solidFill>
                        </a:rPr>
                        <a:t>1,000</a:t>
                      </a:r>
                    </a:p>
                  </a:txBody>
                  <a:tcPr marL="54864" marR="54864" marT="27432" marB="27432">
                    <a:solidFill>
                      <a:srgbClr val="FFFFFF"/>
                    </a:solidFill>
                  </a:tcPr>
                </a:tc>
                <a:tc>
                  <a:txBody>
                    <a:bodyPr/>
                    <a:lstStyle/>
                    <a:p>
                      <a:r>
                        <a:rPr sz="1200" b="0">
                          <a:solidFill>
                            <a:srgbClr val="0B0B0B"/>
                          </a:solidFill>
                        </a:rPr>
                        <a:t>1</a:t>
                      </a:r>
                    </a:p>
                  </a:txBody>
                  <a:tcPr marL="54864" marR="54864" marT="27432" marB="27432">
                    <a:solidFill>
                      <a:srgbClr val="FFFFFF"/>
                    </a:solidFill>
                  </a:tcPr>
                </a:tc>
                <a:tc>
                  <a:txBody>
                    <a:bodyPr/>
                    <a:lstStyle/>
                    <a:p>
                      <a:r>
                        <a:rPr sz="1200" b="0">
                          <a:solidFill>
                            <a:srgbClr val="0B0B0B"/>
                          </a:solidFill>
                        </a:rPr>
                        <a:t>43</a:t>
                      </a:r>
                    </a:p>
                  </a:txBody>
                  <a:tcPr marL="54864" marR="54864" marT="27432" marB="27432">
                    <a:solidFill>
                      <a:srgbClr val="FFFFFF"/>
                    </a:solidFill>
                  </a:tcPr>
                </a:tc>
              </a:tr>
              <a:tr h="329184">
                <a:tc>
                  <a:txBody>
                    <a:bodyPr/>
                    <a:lstStyle/>
                    <a:p>
                      <a:r>
                        <a:rPr sz="1200" b="0">
                          <a:solidFill>
                            <a:srgbClr val="0B0B0B"/>
                          </a:solidFill>
                        </a:rPr>
                        <a:t>Medical: diseases, drugs, institutions (med)</a:t>
                      </a:r>
                    </a:p>
                  </a:txBody>
                  <a:tcPr marL="54864" marR="54864" marT="27432" marB="27432">
                    <a:solidFill>
                      <a:srgbClr val="FFFFFF"/>
                    </a:solidFill>
                  </a:tcPr>
                </a:tc>
                <a:tc>
                  <a:txBody>
                    <a:bodyPr/>
                    <a:lstStyle/>
                    <a:p>
                      <a:r>
                        <a:rPr sz="1200" b="0">
                          <a:solidFill>
                            <a:srgbClr val="0B0B0B"/>
                          </a:solidFill>
                        </a:rPr>
                        <a:t>≈300</a:t>
                      </a:r>
                    </a:p>
                  </a:txBody>
                  <a:tcPr marL="54864" marR="54864" marT="27432" marB="27432">
                    <a:solidFill>
                      <a:srgbClr val="FFFFFF"/>
                    </a:solidFill>
                  </a:tcPr>
                </a:tc>
                <a:tc>
                  <a:txBody>
                    <a:bodyPr/>
                    <a:lstStyle/>
                    <a:p>
                      <a:r>
                        <a:rPr sz="1200" b="0">
                          <a:solidFill>
                            <a:srgbClr val="0B0B0B"/>
                          </a:solidFill>
                        </a:rPr>
                        <a:t>3</a:t>
                      </a:r>
                    </a:p>
                  </a:txBody>
                  <a:tcPr marL="54864" marR="54864" marT="27432" marB="27432">
                    <a:solidFill>
                      <a:srgbClr val="FFFFFF"/>
                    </a:solidFill>
                  </a:tcPr>
                </a:tc>
                <a:tc>
                  <a:txBody>
                    <a:bodyPr/>
                    <a:lstStyle/>
                    <a:p>
                      <a:r>
                        <a:rPr sz="1200" b="0">
                          <a:solidFill>
                            <a:srgbClr val="0B0B0B"/>
                          </a:solidFill>
                        </a:rPr>
                        <a:t>43</a:t>
                      </a:r>
                    </a:p>
                  </a:txBody>
                  <a:tcPr marL="54864" marR="54864" marT="27432" marB="27432">
                    <a:solidFill>
                      <a:srgbClr val="FFFFFF"/>
                    </a:solidFill>
                  </a:tcPr>
                </a:tc>
              </a:tr>
              <a:tr h="329184">
                <a:tc>
                  <a:txBody>
                    <a:bodyPr/>
                    <a:lstStyle/>
                    <a:p>
                      <a:r>
                        <a:rPr sz="1200" b="0">
                          <a:solidFill>
                            <a:srgbClr val="0B0B0B"/>
                          </a:solidFill>
                        </a:rPr>
                        <a:t>Court judgments (legal)</a:t>
                      </a:r>
                    </a:p>
                  </a:txBody>
                  <a:tcPr marL="54864" marR="54864" marT="27432" marB="27432">
                    <a:solidFill>
                      <a:srgbClr val="FFFFFF"/>
                    </a:solidFill>
                  </a:tcPr>
                </a:tc>
                <a:tc>
                  <a:txBody>
                    <a:bodyPr/>
                    <a:lstStyle/>
                    <a:p>
                      <a:r>
                        <a:rPr sz="1200" b="0">
                          <a:solidFill>
                            <a:srgbClr val="0B0B0B"/>
                          </a:solidFill>
                        </a:rPr>
                        <a:t>570</a:t>
                      </a:r>
                    </a:p>
                  </a:txBody>
                  <a:tcPr marL="54864" marR="54864" marT="27432" marB="27432">
                    <a:solidFill>
                      <a:srgbClr val="FFFFFF"/>
                    </a:solidFill>
                  </a:tcPr>
                </a:tc>
                <a:tc>
                  <a:txBody>
                    <a:bodyPr/>
                    <a:lstStyle/>
                    <a:p>
                      <a:r>
                        <a:rPr sz="1200" b="0">
                          <a:solidFill>
                            <a:srgbClr val="0B0B0B"/>
                          </a:solidFill>
                        </a:rPr>
                        <a:t>1</a:t>
                      </a:r>
                    </a:p>
                  </a:txBody>
                  <a:tcPr marL="54864" marR="54864" marT="27432" marB="27432">
                    <a:solidFill>
                      <a:srgbClr val="FFFFFF"/>
                    </a:solidFill>
                  </a:tcPr>
                </a:tc>
                <a:tc>
                  <a:txBody>
                    <a:bodyPr/>
                    <a:lstStyle/>
                    <a:p>
                      <a:r>
                        <a:rPr sz="1200" b="0">
                          <a:solidFill>
                            <a:srgbClr val="0B0B0B"/>
                          </a:solidFill>
                        </a:rPr>
                        <a:t>27</a:t>
                      </a:r>
                    </a:p>
                  </a:txBody>
                  <a:tcPr marL="54864" marR="54864" marT="27432" marB="27432">
                    <a:solidFill>
                      <a:srgbClr val="FFFFFF"/>
                    </a:solidFill>
                  </a:tcPr>
                </a:tc>
              </a:tr>
            </a:tbl>
          </a:graphicData>
        </a:graphic>
      </p:graphicFrame>
      <p:sp>
        <p:nvSpPr>
          <p:cNvPr id="6" name="TextBox 5"/>
          <p:cNvSpPr txBox="1"/>
          <p:nvPr/>
        </p:nvSpPr>
        <p:spPr>
          <a:xfrm>
            <a:off x="457200" y="3794760"/>
            <a:ext cx="6766560" cy="2560320"/>
          </a:xfrm>
          <a:prstGeom prst="rect">
            <a:avLst/>
          </a:prstGeom>
          <a:noFill/>
        </p:spPr>
        <p:txBody>
          <a:bodyPr wrap="square" anchor="t" lIns="45720" rIns="45720">
            <a:spAutoFit/>
          </a:bodyPr>
          <a:lstStyle/>
          <a:p>
            <a:pPr algn="l">
              <a:spcAft>
                <a:spcPts val="600"/>
              </a:spcAft>
            </a:pPr>
            <a:r>
              <a:rPr sz="1300" b="0">
                <a:solidFill>
                  <a:srgbClr val="0B0B0B"/>
                </a:solidFill>
              </a:rPr>
              <a:t>•  Test queries: the benchmark's queries with one column swapped for a column the build did not read (aggregates are only swapped for numeric columns); all use GROUP BY.</a:t>
            </a:r>
          </a:p>
          <a:p>
            <a:pPr algn="l">
              <a:spcAft>
                <a:spcPts val="600"/>
              </a:spcAft>
            </a:pPr>
            <a:r>
              <a:rPr sz="1300" b="0">
                <a:solidFill>
                  <a:srgbClr val="0B0B0B"/>
                </a:solidFill>
              </a:rPr>
              <a:t>•  Five drift levels (0, 25, 50, 75, 100%) and five patch budgets (10–100% of what unlimited patching spends).</a:t>
            </a:r>
          </a:p>
        </p:txBody>
      </p:sp>
      <p:sp>
        <p:nvSpPr>
          <p:cNvPr id="7" name="TextBox 6"/>
          <p:cNvSpPr txBox="1"/>
          <p:nvPr/>
        </p:nvSpPr>
        <p:spPr>
          <a:xfrm>
            <a:off x="7498079" y="1600200"/>
            <a:ext cx="4297680" cy="4754880"/>
          </a:xfrm>
          <a:prstGeom prst="rect">
            <a:avLst/>
          </a:prstGeom>
          <a:noFill/>
        </p:spPr>
        <p:txBody>
          <a:bodyPr wrap="square" anchor="t" lIns="45720" rIns="45720">
            <a:spAutoFit/>
          </a:bodyPr>
          <a:lstStyle/>
          <a:p>
            <a:pPr algn="l">
              <a:spcAft>
                <a:spcPts val="600"/>
              </a:spcAft>
            </a:pPr>
            <a:r>
              <a:rPr sz="1300" b="0">
                <a:solidFill>
                  <a:srgbClr val="0B0B0B"/>
                </a:solidFill>
              </a:rPr>
              <a:t>•  Model: Qwen 2.5 7B Instruct, 4-bit, served locally (Ollama) unless stated.</a:t>
            </a:r>
          </a:p>
          <a:p>
            <a:pPr algn="l">
              <a:spcAft>
                <a:spcPts val="600"/>
              </a:spcAft>
            </a:pPr>
            <a:r>
              <a:rPr sz="1300" b="0">
                <a:solidFill>
                  <a:srgbClr val="0B0B0B"/>
                </a:solidFill>
              </a:rPr>
              <a:t>•  Score per query: structure F2 (right rows and groups) × cell F1 with 20% numeric tolerance (right values); averaged over queries. 1.0 = perfect answer.</a:t>
            </a:r>
          </a:p>
          <a:p>
            <a:pPr algn="l">
              <a:spcAft>
                <a:spcPts val="600"/>
              </a:spcAft>
            </a:pPr>
            <a:r>
              <a:rPr sz="1300" b="0">
                <a:solidFill>
                  <a:srgbClr val="0B0B0B"/>
                </a:solidFill>
              </a:rPr>
              <a:t>•  Differences between two systems are paired over the same queries; 95% confidence intervals by bootstrap.</a:t>
            </a:r>
          </a:p>
          <a:p>
            <a:pPr algn="l">
              <a:spcAft>
                <a:spcPts val="600"/>
              </a:spcAft>
            </a:pPr>
            <a:r>
              <a:rPr sz="1300" b="0">
                <a:solidFill>
                  <a:srgbClr val="0B0B0B"/>
                </a:solidFill>
              </a:rPr>
              <a:t>•  With these test-set sizes a query-level difference must be about 0.03–0.06 to be detectable; "not significant" means smaller than that, not zero.</a:t>
            </a:r>
          </a:p>
          <a:p>
            <a:pPr algn="l">
              <a:spcAft>
                <a:spcPts val="600"/>
              </a:spcAft>
            </a:pPr>
            <a:r>
              <a:rPr sz="1300" b="0">
                <a:solidFill>
                  <a:srgbClr val="0B0B0B"/>
                </a:solidFill>
              </a:rPr>
              <a:t>•  Re-running a whole stream changes its score by at most 0.002; every recorded run replays exactly from its logged model responses.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Findings at a glance</a:t>
            </a:r>
          </a:p>
        </p:txBody>
      </p:sp>
      <p:cxnSp>
        <p:nvCxnSpPr>
          <p:cNvPr id="3" name="Connector 2"/>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457200" y="1554480"/>
          <a:ext cx="11247120" cy="4572000"/>
        </p:xfrm>
        <a:graphic>
          <a:graphicData uri="http://schemas.openxmlformats.org/drawingml/2006/table">
            <a:tbl>
              <a:tblPr firstRow="1" bandRow="1">
                <a:tableStyleId>{5C22544A-7EE6-4342-B048-85BDC9FD1C3A}</a:tableStyleId>
              </a:tblPr>
              <a:tblGrid>
                <a:gridCol w="3108960"/>
                <a:gridCol w="6492240"/>
                <a:gridCol w="1645920"/>
              </a:tblGrid>
              <a:tr h="457200">
                <a:tc>
                  <a:txBody>
                    <a:bodyPr/>
                    <a:lstStyle/>
                    <a:p>
                      <a:r>
                        <a:rPr sz="1200" b="1">
                          <a:solidFill>
                            <a:srgbClr val="0B0B0B"/>
                          </a:solidFill>
                        </a:rPr>
                        <a:t>Question</a:t>
                      </a:r>
                    </a:p>
                  </a:txBody>
                  <a:tcPr marL="54864" marR="54864" marT="27432" marB="27432">
                    <a:solidFill>
                      <a:srgbClr val="F1F0EC"/>
                    </a:solidFill>
                  </a:tcPr>
                </a:tc>
                <a:tc>
                  <a:txBody>
                    <a:bodyPr/>
                    <a:lstStyle/>
                    <a:p>
                      <a:r>
                        <a:rPr sz="1200" b="1">
                          <a:solidFill>
                            <a:srgbClr val="0B0B0B"/>
                          </a:solidFill>
                        </a:rPr>
                        <a:t>Answer</a:t>
                      </a:r>
                    </a:p>
                  </a:txBody>
                  <a:tcPr marL="54864" marR="54864" marT="27432" marB="27432">
                    <a:solidFill>
                      <a:srgbClr val="F1F0EC"/>
                    </a:solidFill>
                  </a:tcPr>
                </a:tc>
                <a:tc>
                  <a:txBody>
                    <a:bodyPr/>
                    <a:lstStyle/>
                    <a:p>
                      <a:r>
                        <a:rPr sz="1200" b="1">
                          <a:solidFill>
                            <a:srgbClr val="0B0B0B"/>
                          </a:solidFill>
                        </a:rPr>
                        <a:t>Status</a:t>
                      </a:r>
                    </a:p>
                  </a:txBody>
                  <a:tcPr marL="54864" marR="54864" marT="27432" marB="27432">
                    <a:solidFill>
                      <a:srgbClr val="F1F0EC"/>
                    </a:solidFill>
                  </a:tcPr>
                </a:tc>
              </a:tr>
              <a:tr h="457200">
                <a:tc>
                  <a:txBody>
                    <a:bodyPr/>
                    <a:lstStyle/>
                    <a:p>
                      <a:r>
                        <a:rPr sz="1200" b="0">
                          <a:solidFill>
                            <a:srgbClr val="0B0B0B"/>
                          </a:solidFill>
                        </a:rPr>
                        <a:t>Patch on demand or build up front?</a:t>
                      </a:r>
                    </a:p>
                  </a:txBody>
                  <a:tcPr marL="54864" marR="54864" marT="27432" marB="27432">
                    <a:solidFill>
                      <a:srgbClr val="FFFFFF"/>
                    </a:solidFill>
                  </a:tcPr>
                </a:tc>
                <a:tc>
                  <a:txBody>
                    <a:bodyPr/>
                    <a:lstStyle/>
                    <a:p>
                      <a:r>
                        <a:rPr sz="1200" b="0">
                          <a:solidFill>
                            <a:srgbClr val="0B0B0B"/>
                          </a:solidFill>
                        </a:rPr>
                        <a:t>Patching keeps accuracy under drift (static collapses); up-front reading is 2.7–5.9× cheaper. Anticipate generously, patch the rest.</a:t>
                      </a:r>
                    </a:p>
                  </a:txBody>
                  <a:tcPr marL="54864" marR="54864" marT="27432" marB="27432">
                    <a:solidFill>
                      <a:srgbClr val="FFFFFF"/>
                    </a:solidFill>
                  </a:tcPr>
                </a:tc>
                <a:tc>
                  <a:txBody>
                    <a:bodyPr/>
                    <a:lstStyle/>
                    <a:p>
                      <a:r>
                        <a:rPr sz="1200" b="1">
                          <a:solidFill>
                            <a:srgbClr val="1B8A5A"/>
                          </a:solidFill>
                        </a:rPr>
                        <a:t>Conclusive</a:t>
                      </a:r>
                    </a:p>
                  </a:txBody>
                  <a:tcPr marL="54864" marR="54864" marT="27432" marB="27432">
                    <a:solidFill>
                      <a:srgbClr val="FFFFFF"/>
                    </a:solidFill>
                  </a:tcPr>
                </a:tc>
              </a:tr>
              <a:tr h="457200">
                <a:tc>
                  <a:txBody>
                    <a:bodyPr/>
                    <a:lstStyle/>
                    <a:p>
                      <a:r>
                        <a:rPr sz="1200" b="0">
                          <a:solidFill>
                            <a:srgbClr val="0B0B0B"/>
                          </a:solidFill>
                        </a:rPr>
                        <a:t>Fewer columns per prompt more accurate?</a:t>
                      </a:r>
                    </a:p>
                  </a:txBody>
                  <a:tcPr marL="54864" marR="54864" marT="27432" marB="27432">
                    <a:solidFill>
                      <a:srgbClr val="FFFFFF"/>
                    </a:solidFill>
                  </a:tcPr>
                </a:tc>
                <a:tc>
                  <a:txBody>
                    <a:bodyPr/>
                    <a:lstStyle/>
                    <a:p>
                      <a:r>
                        <a:rPr sz="1200" b="0">
                          <a:solidFill>
                            <a:srgbClr val="0B0B0B"/>
                          </a:solidFill>
                        </a:rPr>
                        <a:t>No general effect; large but unpredictable per-column effects.</a:t>
                      </a:r>
                    </a:p>
                  </a:txBody>
                  <a:tcPr marL="54864" marR="54864" marT="27432" marB="27432">
                    <a:solidFill>
                      <a:srgbClr val="FFFFFF"/>
                    </a:solidFill>
                  </a:tcPr>
                </a:tc>
                <a:tc>
                  <a:txBody>
                    <a:bodyPr/>
                    <a:lstStyle/>
                    <a:p>
                      <a:r>
                        <a:rPr sz="1200" b="1">
                          <a:solidFill>
                            <a:srgbClr val="1B8A5A"/>
                          </a:solidFill>
                        </a:rPr>
                        <a:t>Conclusive</a:t>
                      </a:r>
                    </a:p>
                  </a:txBody>
                  <a:tcPr marL="54864" marR="54864" marT="27432" marB="27432">
                    <a:solidFill>
                      <a:srgbClr val="FFFFFF"/>
                    </a:solidFill>
                  </a:tcPr>
                </a:tc>
              </a:tr>
              <a:tr h="457200">
                <a:tc>
                  <a:txBody>
                    <a:bodyPr/>
                    <a:lstStyle/>
                    <a:p>
                      <a:r>
                        <a:rPr sz="1200" b="0">
                          <a:solidFill>
                            <a:srgbClr val="0B0B0B"/>
                          </a:solidFill>
                        </a:rPr>
                        <a:t>How to spend a limited budget?</a:t>
                      </a:r>
                    </a:p>
                  </a:txBody>
                  <a:tcPr marL="54864" marR="54864" marT="27432" marB="27432">
                    <a:solidFill>
                      <a:srgbClr val="FFFFFF"/>
                    </a:solidFill>
                  </a:tcPr>
                </a:tc>
                <a:tc>
                  <a:txBody>
                    <a:bodyPr/>
                    <a:lstStyle/>
                    <a:p>
                      <a:r>
                        <a:rPr sz="1200" b="0">
                          <a:solidFill>
                            <a:srgbClr val="0B0B0B"/>
                          </a:solidFill>
                        </a:rPr>
                        <a:t>No policy reliably beats first-come-first-served; even a hindsight plan does not.</a:t>
                      </a:r>
                    </a:p>
                  </a:txBody>
                  <a:tcPr marL="54864" marR="54864" marT="27432" marB="27432">
                    <a:solidFill>
                      <a:srgbClr val="FFFFFF"/>
                    </a:solidFill>
                  </a:tcPr>
                </a:tc>
                <a:tc>
                  <a:txBody>
                    <a:bodyPr/>
                    <a:lstStyle/>
                    <a:p>
                      <a:r>
                        <a:rPr sz="1200" b="1">
                          <a:solidFill>
                            <a:srgbClr val="C98300"/>
                          </a:solidFill>
                        </a:rPr>
                        <a:t>Partly conclusive</a:t>
                      </a:r>
                    </a:p>
                  </a:txBody>
                  <a:tcPr marL="54864" marR="54864" marT="27432" marB="27432">
                    <a:solidFill>
                      <a:srgbClr val="FFFFFF"/>
                    </a:solidFill>
                  </a:tcPr>
                </a:tc>
              </a:tr>
              <a:tr h="457200">
                <a:tc>
                  <a:txBody>
                    <a:bodyPr/>
                    <a:lstStyle/>
                    <a:p>
                      <a:r>
                        <a:rPr sz="1200" b="0">
                          <a:solidFill>
                            <a:srgbClr val="0B0B0B"/>
                          </a:solidFill>
                        </a:rPr>
                        <a:t>Predict cost / value of an extraction?</a:t>
                      </a:r>
                    </a:p>
                  </a:txBody>
                  <a:tcPr marL="54864" marR="54864" marT="27432" marB="27432">
                    <a:solidFill>
                      <a:srgbClr val="FFFFFF"/>
                    </a:solidFill>
                  </a:tcPr>
                </a:tc>
                <a:tc>
                  <a:txBody>
                    <a:bodyPr/>
                    <a:lstStyle/>
                    <a:p>
                      <a:r>
                        <a:rPr sz="1200" b="0">
                          <a:solidFill>
                            <a:srgbClr val="0B0B0B"/>
                          </a:solidFill>
                        </a:rPr>
                        <a:t>Cost: yes (within 1%). Value: only partly; 16% of tokens buy nothing.</a:t>
                      </a:r>
                    </a:p>
                  </a:txBody>
                  <a:tcPr marL="54864" marR="54864" marT="27432" marB="27432">
                    <a:solidFill>
                      <a:srgbClr val="FFFFFF"/>
                    </a:solidFill>
                  </a:tcPr>
                </a:tc>
                <a:tc>
                  <a:txBody>
                    <a:bodyPr/>
                    <a:lstStyle/>
                    <a:p>
                      <a:r>
                        <a:rPr sz="1200" b="1">
                          <a:solidFill>
                            <a:srgbClr val="1B8A5A"/>
                          </a:solidFill>
                        </a:rPr>
                        <a:t>Conclusive</a:t>
                      </a:r>
                    </a:p>
                  </a:txBody>
                  <a:tcPr marL="54864" marR="54864" marT="27432" marB="27432">
                    <a:solidFill>
                      <a:srgbClr val="FFFFFF"/>
                    </a:solidFill>
                  </a:tcPr>
                </a:tc>
              </a:tr>
              <a:tr h="457200">
                <a:tc>
                  <a:txBody>
                    <a:bodyPr/>
                    <a:lstStyle/>
                    <a:p>
                      <a:r>
                        <a:rPr sz="1200" b="0">
                          <a:solidFill>
                            <a:srgbClr val="0B0B0B"/>
                          </a:solidFill>
                        </a:rPr>
                        <a:t>Planner vs one shared pass?</a:t>
                      </a:r>
                    </a:p>
                  </a:txBody>
                  <a:tcPr marL="54864" marR="54864" marT="27432" marB="27432">
                    <a:solidFill>
                      <a:srgbClr val="FFFFFF"/>
                    </a:solidFill>
                  </a:tcPr>
                </a:tc>
                <a:tc>
                  <a:txBody>
                    <a:bodyPr/>
                    <a:lstStyle/>
                    <a:p>
                      <a:r>
                        <a:rPr sz="1200" b="0">
                          <a:solidFill>
                            <a:srgbClr val="0B0B0B"/>
                          </a:solidFill>
                        </a:rPr>
                        <a:t>The planner never reaches a shared pass with good field descriptions.</a:t>
                      </a:r>
                    </a:p>
                  </a:txBody>
                  <a:tcPr marL="54864" marR="54864" marT="27432" marB="27432">
                    <a:solidFill>
                      <a:srgbClr val="FFFFFF"/>
                    </a:solidFill>
                  </a:tcPr>
                </a:tc>
                <a:tc>
                  <a:txBody>
                    <a:bodyPr/>
                    <a:lstStyle/>
                    <a:p>
                      <a:r>
                        <a:rPr sz="1200" b="1">
                          <a:solidFill>
                            <a:srgbClr val="1B8A5A"/>
                          </a:solidFill>
                        </a:rPr>
                        <a:t>Conclusive</a:t>
                      </a:r>
                    </a:p>
                  </a:txBody>
                  <a:tcPr marL="54864" marR="54864" marT="27432" marB="27432">
                    <a:solidFill>
                      <a:srgbClr val="FFFFFF"/>
                    </a:solidFill>
                  </a:tcPr>
                </a:tc>
              </a:tr>
              <a:tr h="457200">
                <a:tc>
                  <a:txBody>
                    <a:bodyPr/>
                    <a:lstStyle/>
                    <a:p>
                      <a:r>
                        <a:rPr sz="1200" b="0">
                          <a:solidFill>
                            <a:srgbClr val="0B0B0B"/>
                          </a:solidFill>
                        </a:rPr>
                        <a:t>Does extraction order matter?</a:t>
                      </a:r>
                    </a:p>
                  </a:txBody>
                  <a:tcPr marL="54864" marR="54864" marT="27432" marB="27432">
                    <a:solidFill>
                      <a:srgbClr val="FFFFFF"/>
                    </a:solidFill>
                  </a:tcPr>
                </a:tc>
                <a:tc>
                  <a:txBody>
                    <a:bodyPr/>
                    <a:lstStyle/>
                    <a:p>
                      <a:r>
                        <a:rPr sz="1200" b="0">
                          <a:solidFill>
                            <a:srgbClr val="0B0B0B"/>
                          </a:solidFill>
                        </a:rPr>
                        <a:t>It changes which documents get read, not the values read.</a:t>
                      </a:r>
                    </a:p>
                  </a:txBody>
                  <a:tcPr marL="54864" marR="54864" marT="27432" marB="27432">
                    <a:solidFill>
                      <a:srgbClr val="FFFFFF"/>
                    </a:solidFill>
                  </a:tcPr>
                </a:tc>
                <a:tc>
                  <a:txBody>
                    <a:bodyPr/>
                    <a:lstStyle/>
                    <a:p>
                      <a:r>
                        <a:rPr sz="1200" b="1">
                          <a:solidFill>
                            <a:srgbClr val="1B8A5A"/>
                          </a:solidFill>
                        </a:rPr>
                        <a:t>Conclusive</a:t>
                      </a:r>
                    </a:p>
                  </a:txBody>
                  <a:tcPr marL="54864" marR="54864" marT="27432" marB="27432">
                    <a:solidFill>
                      <a:srgbClr val="FFFFFF"/>
                    </a:solidFill>
                  </a:tcPr>
                </a:tc>
              </a:tr>
              <a:tr h="457200">
                <a:tc>
                  <a:txBody>
                    <a:bodyPr/>
                    <a:lstStyle/>
                    <a:p>
                      <a:r>
                        <a:rPr sz="1200" b="0">
                          <a:solidFill>
                            <a:srgbClr val="0B0B0B"/>
                          </a:solidFill>
                        </a:rPr>
                        <a:t>Across models?</a:t>
                      </a:r>
                    </a:p>
                  </a:txBody>
                  <a:tcPr marL="54864" marR="54864" marT="27432" marB="27432">
                    <a:solidFill>
                      <a:srgbClr val="FFFFFF"/>
                    </a:solidFill>
                  </a:tcPr>
                </a:tc>
                <a:tc>
                  <a:txBody>
                    <a:bodyPr/>
                    <a:lstStyle/>
                    <a:p>
                      <a:r>
                        <a:rPr sz="1200" b="0">
                          <a:solidFill>
                            <a:srgbClr val="0B0B0B"/>
                          </a:solidFill>
                        </a:rPr>
                        <a:t>Same conclusions for 3 models; the larger model is better at the same cost.</a:t>
                      </a:r>
                    </a:p>
                  </a:txBody>
                  <a:tcPr marL="54864" marR="54864" marT="27432" marB="27432">
                    <a:solidFill>
                      <a:srgbClr val="FFFFFF"/>
                    </a:solidFill>
                  </a:tcPr>
                </a:tc>
                <a:tc>
                  <a:txBody>
                    <a:bodyPr/>
                    <a:lstStyle/>
                    <a:p>
                      <a:r>
                        <a:rPr sz="1200" b="1">
                          <a:solidFill>
                            <a:srgbClr val="C98300"/>
                          </a:solidFill>
                        </a:rPr>
                        <a:t>Partly conclusive</a:t>
                      </a:r>
                    </a:p>
                  </a:txBody>
                  <a:tcPr marL="54864" marR="54864" marT="27432" marB="27432">
                    <a:solidFill>
                      <a:srgbClr val="FFFFFF"/>
                    </a:solidFill>
                  </a:tcPr>
                </a:tc>
              </a:tr>
              <a:tr h="457200">
                <a:tc>
                  <a:txBody>
                    <a:bodyPr/>
                    <a:lstStyle/>
                    <a:p>
                      <a:r>
                        <a:rPr sz="1200" b="0">
                          <a:solidFill>
                            <a:srgbClr val="0B0B0B"/>
                          </a:solidFill>
                        </a:rPr>
                        <a:t>Which components matter?</a:t>
                      </a:r>
                    </a:p>
                  </a:txBody>
                  <a:tcPr marL="54864" marR="54864" marT="27432" marB="27432">
                    <a:solidFill>
                      <a:srgbClr val="FFFFFF"/>
                    </a:solidFill>
                  </a:tcPr>
                </a:tc>
                <a:tc>
                  <a:txBody>
                    <a:bodyPr/>
                    <a:lstStyle/>
                    <a:p>
                      <a:r>
                        <a:rPr sz="1200" b="0">
                          <a:solidFill>
                            <a:srgbClr val="0B0B0B"/>
                          </a:solidFill>
                        </a:rPr>
                        <a:t>Field descriptions and value normalization for accuracy; reuse and scoping for cost.</a:t>
                      </a:r>
                    </a:p>
                  </a:txBody>
                  <a:tcPr marL="54864" marR="54864" marT="27432" marB="27432">
                    <a:solidFill>
                      <a:srgbClr val="FFFFFF"/>
                    </a:solidFill>
                  </a:tcPr>
                </a:tc>
                <a:tc>
                  <a:txBody>
                    <a:bodyPr/>
                    <a:lstStyle/>
                    <a:p>
                      <a:r>
                        <a:rPr sz="1200" b="1">
                          <a:solidFill>
                            <a:srgbClr val="C98300"/>
                          </a:solidFill>
                        </a:rPr>
                        <a:t>Partly conclusive</a:t>
                      </a:r>
                    </a:p>
                  </a:txBody>
                  <a:tcPr marL="54864" marR="54864" marT="27432" marB="27432">
                    <a:solidFill>
                      <a:srgbClr val="FFFFFF"/>
                    </a:solidFill>
                  </a:tcPr>
                </a:tc>
              </a:tr>
              <a:tr h="457200">
                <a:tc>
                  <a:txBody>
                    <a:bodyPr/>
                    <a:lstStyle/>
                    <a:p>
                      <a:r>
                        <a:rPr sz="1200" b="0">
                          <a:solidFill>
                            <a:srgbClr val="0B0B0B"/>
                          </a:solidFill>
                        </a:rPr>
                        <a:t>Cost vs DocETL baseline</a:t>
                      </a:r>
                    </a:p>
                  </a:txBody>
                  <a:tcPr marL="54864" marR="54864" marT="27432" marB="27432">
                    <a:solidFill>
                      <a:srgbClr val="FFFFFF"/>
                    </a:solidFill>
                  </a:tcPr>
                </a:tc>
                <a:tc>
                  <a:txBody>
                    <a:bodyPr/>
                    <a:lstStyle/>
                    <a:p>
                      <a:r>
                        <a:rPr sz="1200" b="0">
                          <a:solidFill>
                            <a:srgbClr val="0B0B0B"/>
                          </a:solidFill>
                        </a:rPr>
                        <a:t>More accurate on every corpus at 5–25× fewer tokens.</a:t>
                      </a:r>
                    </a:p>
                  </a:txBody>
                  <a:tcPr marL="54864" marR="54864" marT="27432" marB="27432">
                    <a:solidFill>
                      <a:srgbClr val="FFFFFF"/>
                    </a:solidFill>
                  </a:tcPr>
                </a:tc>
                <a:tc>
                  <a:txBody>
                    <a:bodyPr/>
                    <a:lstStyle/>
                    <a:p>
                      <a:r>
                        <a:rPr sz="1200" b="1">
                          <a:solidFill>
                            <a:srgbClr val="1B8A5A"/>
                          </a:solidFill>
                        </a:rPr>
                        <a:t>Conclusive</a:t>
                      </a:r>
                    </a:p>
                  </a:txBody>
                  <a:tcPr marL="54864" marR="54864" marT="27432" marB="27432">
                    <a:solidFill>
                      <a:srgbClr val="FFFFFF"/>
                    </a:solidFill>
                  </a:tcPr>
                </a:tc>
              </a:tr>
            </a:tbl>
          </a:graphicData>
        </a:graphic>
      </p:graphicFrame>
      <p:sp>
        <p:nvSpPr>
          <p:cNvPr id="5" name="TextBox 4"/>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Partly conclusive: results for med and legal (budget policies, component tests, other models) are still running, or some per-corpus differences are not statistically significant.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Patching keeps accuracy under drift; a static build collapses</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Score as more of the new columns are left out of the build (0% = all anticipated, 100% = none)</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1_drift.png"/>
          <p:cNvPicPr>
            <a:picLocks noChangeAspect="1"/>
          </p:cNvPicPr>
          <p:nvPr/>
        </p:nvPicPr>
        <p:blipFill>
          <a:blip r:embed="rId2"/>
          <a:stretch>
            <a:fillRect/>
          </a:stretch>
        </p:blipFill>
        <p:spPr>
          <a:xfrm>
            <a:off x="365760" y="1508760"/>
            <a:ext cx="11430000" cy="2493818"/>
          </a:xfrm>
          <a:prstGeom prst="rect">
            <a:avLst/>
          </a:prstGeom>
        </p:spPr>
      </p:pic>
      <p:graphicFrame>
        <p:nvGraphicFramePr>
          <p:cNvPr id="7" name="Table 6"/>
          <p:cNvGraphicFramePr>
            <a:graphicFrameLocks noGrp="1"/>
          </p:cNvGraphicFramePr>
          <p:nvPr/>
        </p:nvGraphicFramePr>
        <p:xfrm>
          <a:off x="457200" y="4160520"/>
          <a:ext cx="6949440" cy="1865376"/>
        </p:xfrm>
        <a:graphic>
          <a:graphicData uri="http://schemas.openxmlformats.org/drawingml/2006/table">
            <a:tbl>
              <a:tblPr firstRow="1" bandRow="1">
                <a:tableStyleId>{5C22544A-7EE6-4342-B048-85BDC9FD1C3A}</a:tableStyleId>
              </a:tblPr>
              <a:tblGrid>
                <a:gridCol w="1371600"/>
                <a:gridCol w="1463040"/>
                <a:gridCol w="1645920"/>
                <a:gridCol w="2468880"/>
              </a:tblGrid>
              <a:tr h="310896">
                <a:tc>
                  <a:txBody>
                    <a:bodyPr/>
                    <a:lstStyle/>
                    <a:p>
                      <a:r>
                        <a:rPr sz="1200" b="1">
                          <a:solidFill>
                            <a:srgbClr val="0B0B0B"/>
                          </a:solidFill>
                        </a:rPr>
                        <a:t>At 100% drift</a:t>
                      </a:r>
                    </a:p>
                  </a:txBody>
                  <a:tcPr marL="54864" marR="54864" marT="27432" marB="27432">
                    <a:solidFill>
                      <a:srgbClr val="F1F0EC"/>
                    </a:solidFill>
                  </a:tcPr>
                </a:tc>
                <a:tc>
                  <a:txBody>
                    <a:bodyPr/>
                    <a:lstStyle/>
                    <a:p>
                      <a:r>
                        <a:rPr sz="1200" b="1">
                          <a:solidFill>
                            <a:srgbClr val="0B0B0B"/>
                          </a:solidFill>
                        </a:rPr>
                        <a:t>Static build</a:t>
                      </a:r>
                    </a:p>
                  </a:txBody>
                  <a:tcPr marL="54864" marR="54864" marT="27432" marB="27432">
                    <a:solidFill>
                      <a:srgbClr val="F1F0EC"/>
                    </a:solidFill>
                  </a:tcPr>
                </a:tc>
                <a:tc>
                  <a:txBody>
                    <a:bodyPr/>
                    <a:lstStyle/>
                    <a:p>
                      <a:r>
                        <a:rPr sz="1200" b="1">
                          <a:solidFill>
                            <a:srgbClr val="0B0B0B"/>
                          </a:solidFill>
                        </a:rPr>
                        <a:t>With patching</a:t>
                      </a:r>
                    </a:p>
                  </a:txBody>
                  <a:tcPr marL="54864" marR="54864" marT="27432" marB="27432">
                    <a:solidFill>
                      <a:srgbClr val="F1F0EC"/>
                    </a:solidFill>
                  </a:tcPr>
                </a:tc>
                <a:tc>
                  <a:txBody>
                    <a:bodyPr/>
                    <a:lstStyle/>
                    <a:p>
                      <a:r>
                        <a:rPr sz="1200" b="1">
                          <a:solidFill>
                            <a:srgbClr val="0B0B0B"/>
                          </a:solidFill>
                        </a:rPr>
                        <a:t>Difference (95% CI)</a:t>
                      </a:r>
                    </a:p>
                  </a:txBody>
                  <a:tcPr marL="54864" marR="54864" marT="27432" marB="27432">
                    <a:solidFill>
                      <a:srgbClr val="F1F0EC"/>
                    </a:solidFill>
                  </a:tcPr>
                </a:tc>
              </a:tr>
              <a:tr h="310896">
                <a:tc>
                  <a:txBody>
                    <a:bodyPr/>
                    <a:lstStyle/>
                    <a:p>
                      <a:r>
                        <a:rPr sz="1200" b="0">
                          <a:solidFill>
                            <a:srgbClr val="0B0B0B"/>
                          </a:solidFill>
                        </a:rPr>
                        <a:t>player</a:t>
                      </a:r>
                    </a:p>
                  </a:txBody>
                  <a:tcPr marL="54864" marR="54864" marT="27432" marB="27432">
                    <a:solidFill>
                      <a:srgbClr val="FFFFFF"/>
                    </a:solidFill>
                  </a:tcPr>
                </a:tc>
                <a:tc>
                  <a:txBody>
                    <a:bodyPr/>
                    <a:lstStyle/>
                    <a:p>
                      <a:r>
                        <a:rPr sz="1200" b="0">
                          <a:solidFill>
                            <a:srgbClr val="0B0B0B"/>
                          </a:solidFill>
                        </a:rPr>
                        <a:t>0.040</a:t>
                      </a:r>
                    </a:p>
                  </a:txBody>
                  <a:tcPr marL="54864" marR="54864" marT="27432" marB="27432">
                    <a:solidFill>
                      <a:srgbClr val="FFFFFF"/>
                    </a:solidFill>
                  </a:tcPr>
                </a:tc>
                <a:tc>
                  <a:txBody>
                    <a:bodyPr/>
                    <a:lstStyle/>
                    <a:p>
                      <a:r>
                        <a:rPr sz="1200" b="0">
                          <a:solidFill>
                            <a:srgbClr val="0B0B0B"/>
                          </a:solidFill>
                        </a:rPr>
                        <a:t>0.387</a:t>
                      </a:r>
                    </a:p>
                  </a:txBody>
                  <a:tcPr marL="54864" marR="54864" marT="27432" marB="27432">
                    <a:solidFill>
                      <a:srgbClr val="FFFFFF"/>
                    </a:solidFill>
                  </a:tcPr>
                </a:tc>
                <a:tc>
                  <a:txBody>
                    <a:bodyPr/>
                    <a:lstStyle/>
                    <a:p>
                      <a:r>
                        <a:rPr sz="1200" b="0">
                          <a:solidFill>
                            <a:srgbClr val="0B0B0B"/>
                          </a:solidFill>
                        </a:rPr>
                        <a:t>+0.35 (0.29 – 0.41)</a:t>
                      </a:r>
                    </a:p>
                  </a:txBody>
                  <a:tcPr marL="54864" marR="54864" marT="27432" marB="27432">
                    <a:solidFill>
                      <a:srgbClr val="FFFFFF"/>
                    </a:solidFill>
                  </a:tcPr>
                </a:tc>
              </a:tr>
              <a:tr h="310896">
                <a:tc>
                  <a:txBody>
                    <a:bodyPr/>
                    <a:lstStyle/>
                    <a:p>
                      <a:r>
                        <a:rPr sz="1200" b="0">
                          <a:solidFill>
                            <a:srgbClr val="0B0B0B"/>
                          </a:solidFill>
                        </a:rPr>
                        <a:t>art</a:t>
                      </a:r>
                    </a:p>
                  </a:txBody>
                  <a:tcPr marL="54864" marR="54864" marT="27432" marB="27432">
                    <a:solidFill>
                      <a:srgbClr val="FFFFFF"/>
                    </a:solidFill>
                  </a:tcPr>
                </a:tc>
                <a:tc>
                  <a:txBody>
                    <a:bodyPr/>
                    <a:lstStyle/>
                    <a:p>
                      <a:r>
                        <a:rPr sz="1200" b="0">
                          <a:solidFill>
                            <a:srgbClr val="0B0B0B"/>
                          </a:solidFill>
                        </a:rPr>
                        <a:t>0.031</a:t>
                      </a:r>
                    </a:p>
                  </a:txBody>
                  <a:tcPr marL="54864" marR="54864" marT="27432" marB="27432">
                    <a:solidFill>
                      <a:srgbClr val="FFFFFF"/>
                    </a:solidFill>
                  </a:tcPr>
                </a:tc>
                <a:tc>
                  <a:txBody>
                    <a:bodyPr/>
                    <a:lstStyle/>
                    <a:p>
                      <a:r>
                        <a:rPr sz="1200" b="0">
                          <a:solidFill>
                            <a:srgbClr val="0B0B0B"/>
                          </a:solidFill>
                        </a:rPr>
                        <a:t>0.256</a:t>
                      </a:r>
                    </a:p>
                  </a:txBody>
                  <a:tcPr marL="54864" marR="54864" marT="27432" marB="27432">
                    <a:solidFill>
                      <a:srgbClr val="FFFFFF"/>
                    </a:solidFill>
                  </a:tcPr>
                </a:tc>
                <a:tc>
                  <a:txBody>
                    <a:bodyPr/>
                    <a:lstStyle/>
                    <a:p>
                      <a:r>
                        <a:rPr sz="1200" b="0">
                          <a:solidFill>
                            <a:srgbClr val="0B0B0B"/>
                          </a:solidFill>
                        </a:rPr>
                        <a:t>+0.23 (0.15 – 0.30)</a:t>
                      </a:r>
                    </a:p>
                  </a:txBody>
                  <a:tcPr marL="54864" marR="54864" marT="27432" marB="27432">
                    <a:solidFill>
                      <a:srgbClr val="FFFFFF"/>
                    </a:solidFill>
                  </a:tcPr>
                </a:tc>
              </a:tr>
              <a:tr h="310896">
                <a:tc>
                  <a:txBody>
                    <a:bodyPr/>
                    <a:lstStyle/>
                    <a:p>
                      <a:r>
                        <a:rPr sz="1200" b="0">
                          <a:solidFill>
                            <a:srgbClr val="0B0B0B"/>
                          </a:solidFill>
                        </a:rPr>
                        <a:t>cspaper</a:t>
                      </a:r>
                    </a:p>
                  </a:txBody>
                  <a:tcPr marL="54864" marR="54864" marT="27432" marB="27432">
                    <a:solidFill>
                      <a:srgbClr val="FFFFFF"/>
                    </a:solidFill>
                  </a:tcPr>
                </a:tc>
                <a:tc>
                  <a:txBody>
                    <a:bodyPr/>
                    <a:lstStyle/>
                    <a:p>
                      <a:r>
                        <a:rPr sz="1200" b="0">
                          <a:solidFill>
                            <a:srgbClr val="0B0B0B"/>
                          </a:solidFill>
                        </a:rPr>
                        <a:t>0.008</a:t>
                      </a:r>
                    </a:p>
                  </a:txBody>
                  <a:tcPr marL="54864" marR="54864" marT="27432" marB="27432">
                    <a:solidFill>
                      <a:srgbClr val="FFFFFF"/>
                    </a:solidFill>
                  </a:tcPr>
                </a:tc>
                <a:tc>
                  <a:txBody>
                    <a:bodyPr/>
                    <a:lstStyle/>
                    <a:p>
                      <a:r>
                        <a:rPr sz="1200" b="0">
                          <a:solidFill>
                            <a:srgbClr val="0B0B0B"/>
                          </a:solidFill>
                        </a:rPr>
                        <a:t>0.153</a:t>
                      </a:r>
                    </a:p>
                  </a:txBody>
                  <a:tcPr marL="54864" marR="54864" marT="27432" marB="27432">
                    <a:solidFill>
                      <a:srgbClr val="FFFFFF"/>
                    </a:solidFill>
                  </a:tcPr>
                </a:tc>
                <a:tc>
                  <a:txBody>
                    <a:bodyPr/>
                    <a:lstStyle/>
                    <a:p>
                      <a:r>
                        <a:rPr sz="1200" b="0">
                          <a:solidFill>
                            <a:srgbClr val="0B0B0B"/>
                          </a:solidFill>
                        </a:rPr>
                        <a:t>+0.15 (0.09 – 0.20)</a:t>
                      </a:r>
                    </a:p>
                  </a:txBody>
                  <a:tcPr marL="54864" marR="54864" marT="27432" marB="27432">
                    <a:solidFill>
                      <a:srgbClr val="FFFFFF"/>
                    </a:solidFill>
                  </a:tcPr>
                </a:tc>
              </a:tr>
              <a:tr h="310896">
                <a:tc>
                  <a:txBody>
                    <a:bodyPr/>
                    <a:lstStyle/>
                    <a:p>
                      <a:r>
                        <a:rPr sz="1200" b="0">
                          <a:solidFill>
                            <a:srgbClr val="0B0B0B"/>
                          </a:solidFill>
                        </a:rPr>
                        <a:t>legal</a:t>
                      </a:r>
                    </a:p>
                  </a:txBody>
                  <a:tcPr marL="54864" marR="54864" marT="27432" marB="27432">
                    <a:solidFill>
                      <a:srgbClr val="FFFFFF"/>
                    </a:solidFill>
                  </a:tcPr>
                </a:tc>
                <a:tc>
                  <a:txBody>
                    <a:bodyPr/>
                    <a:lstStyle/>
                    <a:p>
                      <a:r>
                        <a:rPr sz="1200" b="0">
                          <a:solidFill>
                            <a:srgbClr val="0B0B0B"/>
                          </a:solidFill>
                        </a:rPr>
                        <a:t>0.005</a:t>
                      </a:r>
                    </a:p>
                  </a:txBody>
                  <a:tcPr marL="54864" marR="54864" marT="27432" marB="27432">
                    <a:solidFill>
                      <a:srgbClr val="FFFFFF"/>
                    </a:solidFill>
                  </a:tcPr>
                </a:tc>
                <a:tc>
                  <a:txBody>
                    <a:bodyPr/>
                    <a:lstStyle/>
                    <a:p>
                      <a:r>
                        <a:rPr sz="1200" b="0">
                          <a:solidFill>
                            <a:srgbClr val="0B0B0B"/>
                          </a:solidFill>
                        </a:rPr>
                        <a:t>0.170</a:t>
                      </a:r>
                    </a:p>
                  </a:txBody>
                  <a:tcPr marL="54864" marR="54864" marT="27432" marB="27432">
                    <a:solidFill>
                      <a:srgbClr val="FFFFFF"/>
                    </a:solidFill>
                  </a:tcPr>
                </a:tc>
                <a:tc>
                  <a:txBody>
                    <a:bodyPr/>
                    <a:lstStyle/>
                    <a:p>
                      <a:r>
                        <a:rPr sz="1200" b="0">
                          <a:solidFill>
                            <a:srgbClr val="0B0B0B"/>
                          </a:solidFill>
                        </a:rPr>
                        <a:t>+0.17 (0.10 – 0.24)</a:t>
                      </a:r>
                    </a:p>
                  </a:txBody>
                  <a:tcPr marL="54864" marR="54864" marT="27432" marB="27432">
                    <a:solidFill>
                      <a:srgbClr val="FFFFFF"/>
                    </a:solidFill>
                  </a:tcPr>
                </a:tc>
              </a:tr>
              <a:tr h="310896">
                <a:tc>
                  <a:txBody>
                    <a:bodyPr/>
                    <a:lstStyle/>
                    <a:p>
                      <a:r>
                        <a:rPr sz="1200" b="0">
                          <a:solidFill>
                            <a:srgbClr val="0B0B0B"/>
                          </a:solidFill>
                        </a:rPr>
                        <a:t>med</a:t>
                      </a:r>
                    </a:p>
                  </a:txBody>
                  <a:tcPr marL="54864" marR="54864" marT="27432" marB="27432">
                    <a:solidFill>
                      <a:srgbClr val="FFFFFF"/>
                    </a:solidFill>
                  </a:tcPr>
                </a:tc>
                <a:tc>
                  <a:txBody>
                    <a:bodyPr/>
                    <a:lstStyle/>
                    <a:p>
                      <a:r>
                        <a:rPr sz="1200" b="0">
                          <a:solidFill>
                            <a:srgbClr val="0B0B0B"/>
                          </a:solidFill>
                        </a:rPr>
                        <a:t>0.041</a:t>
                      </a:r>
                    </a:p>
                  </a:txBody>
                  <a:tcPr marL="54864" marR="54864" marT="27432" marB="27432">
                    <a:solidFill>
                      <a:srgbClr val="FFFFFF"/>
                    </a:solidFill>
                  </a:tcPr>
                </a:tc>
                <a:tc>
                  <a:txBody>
                    <a:bodyPr/>
                    <a:lstStyle/>
                    <a:p>
                      <a:r>
                        <a:rPr sz="1200" b="0">
                          <a:solidFill>
                            <a:srgbClr val="0B0B0B"/>
                          </a:solidFill>
                        </a:rPr>
                        <a:t>0.115</a:t>
                      </a:r>
                    </a:p>
                  </a:txBody>
                  <a:tcPr marL="54864" marR="54864" marT="27432" marB="27432">
                    <a:solidFill>
                      <a:srgbClr val="FFFFFF"/>
                    </a:solidFill>
                  </a:tcPr>
                </a:tc>
                <a:tc>
                  <a:txBody>
                    <a:bodyPr/>
                    <a:lstStyle/>
                    <a:p>
                      <a:r>
                        <a:rPr sz="1200" b="0">
                          <a:solidFill>
                            <a:srgbClr val="0B0B0B"/>
                          </a:solidFill>
                        </a:rPr>
                        <a:t>+0.07 (0.04 – 0.12)</a:t>
                      </a:r>
                    </a:p>
                  </a:txBody>
                  <a:tcPr marL="54864" marR="54864" marT="27432" marB="27432">
                    <a:solidFill>
                      <a:srgbClr val="FFFFFF"/>
                    </a:solidFill>
                  </a:tcPr>
                </a:tc>
              </a:tr>
            </a:tbl>
          </a:graphicData>
        </a:graphic>
      </p:graphicFrame>
      <p:sp>
        <p:nvSpPr>
          <p:cNvPr id="8" name="TextBox 7"/>
          <p:cNvSpPr txBox="1"/>
          <p:nvPr/>
        </p:nvSpPr>
        <p:spPr>
          <a:xfrm>
            <a:off x="7680960" y="4160520"/>
            <a:ext cx="4114800" cy="2194560"/>
          </a:xfrm>
          <a:prstGeom prst="rect">
            <a:avLst/>
          </a:prstGeom>
          <a:noFill/>
        </p:spPr>
        <p:txBody>
          <a:bodyPr wrap="square" anchor="t" lIns="45720" rIns="45720">
            <a:spAutoFit/>
          </a:bodyPr>
          <a:lstStyle/>
          <a:p>
            <a:pPr algn="l">
              <a:spcAft>
                <a:spcPts val="600"/>
              </a:spcAft>
            </a:pPr>
            <a:r>
              <a:rPr sz="1300" b="0">
                <a:solidFill>
                  <a:srgbClr val="0B0B0B"/>
                </a:solidFill>
              </a:rPr>
              <a:t>•  With patching the score at 100% drift stays within 0.015 of the fully anticipated build on every corpus.</a:t>
            </a:r>
          </a:p>
          <a:p>
            <a:pPr algn="l">
              <a:spcAft>
                <a:spcPts val="600"/>
              </a:spcAft>
            </a:pPr>
            <a:r>
              <a:rPr sz="1300" b="0">
                <a:solidFill>
                  <a:srgbClr val="0B0B0B"/>
                </a:solidFill>
              </a:rPr>
              <a:t>•  Small rises (cspaper +0.019, player +0.008) are not statistically significant; the patched curve is flat.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The drift result does not depend on which columns or how much workload the build saw</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Left: four random choices of withheld columns. Right: build workload cut to 10–50% of its queries</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1_seeds.png"/>
          <p:cNvPicPr>
            <a:picLocks noChangeAspect="1"/>
          </p:cNvPicPr>
          <p:nvPr/>
        </p:nvPicPr>
        <p:blipFill>
          <a:blip r:embed="rId2"/>
          <a:stretch>
            <a:fillRect/>
          </a:stretch>
        </p:blipFill>
        <p:spPr>
          <a:xfrm>
            <a:off x="274320" y="1554480"/>
            <a:ext cx="6035040" cy="2139696"/>
          </a:xfrm>
          <a:prstGeom prst="rect">
            <a:avLst/>
          </a:prstGeom>
        </p:spPr>
      </p:pic>
      <p:pic>
        <p:nvPicPr>
          <p:cNvPr id="7" name="Picture 6" descr="rq1_train.png"/>
          <p:cNvPicPr>
            <a:picLocks noChangeAspect="1"/>
          </p:cNvPicPr>
          <p:nvPr/>
        </p:nvPicPr>
        <p:blipFill>
          <a:blip r:embed="rId3"/>
          <a:stretch>
            <a:fillRect/>
          </a:stretch>
        </p:blipFill>
        <p:spPr>
          <a:xfrm>
            <a:off x="6400800" y="1463040"/>
            <a:ext cx="5352585" cy="3657600"/>
          </a:xfrm>
          <a:prstGeom prst="rect">
            <a:avLst/>
          </a:prstGeom>
        </p:spPr>
      </p:pic>
      <p:sp>
        <p:nvSpPr>
          <p:cNvPr id="8" name="TextBox 7"/>
          <p:cNvSpPr txBox="1"/>
          <p:nvPr/>
        </p:nvSpPr>
        <p:spPr>
          <a:xfrm>
            <a:off x="457200" y="5257800"/>
            <a:ext cx="11247120" cy="1188720"/>
          </a:xfrm>
          <a:prstGeom prst="rect">
            <a:avLst/>
          </a:prstGeom>
          <a:noFill/>
        </p:spPr>
        <p:txBody>
          <a:bodyPr wrap="square" anchor="t" lIns="45720" rIns="45720">
            <a:spAutoFit/>
          </a:bodyPr>
          <a:lstStyle/>
          <a:p>
            <a:pPr algn="l">
              <a:spcAft>
                <a:spcPts val="600"/>
              </a:spcAft>
            </a:pPr>
            <a:r>
              <a:rPr sz="1300" b="0">
                <a:solidFill>
                  <a:srgbClr val="0B0B0B"/>
                </a:solidFill>
              </a:rPr>
              <a:t>•  Static collapses every time; patching stays flat with no significant 0%→100% difference (−0.015 to +0.020).</a:t>
            </a:r>
          </a:p>
          <a:p>
            <a:pPr algn="l">
              <a:spcAft>
                <a:spcPts val="600"/>
              </a:spcAft>
            </a:pPr>
            <a:r>
              <a:rPr sz="1300" b="0">
                <a:solidFill>
                  <a:srgbClr val="0B0B0B"/>
                </a:solidFill>
              </a:rPr>
              <a:t>•  A smaller build workload leaves more columns to patching and costs 7–23% more tokens; accuracy is unchanged.</a:t>
            </a:r>
          </a:p>
        </p:txBody>
      </p:sp>
      <p:sp>
        <p:nvSpPr>
          <p:cNvPr id="9" name="TextBox 8"/>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Withheld-column draws: cspaper and player. Smaller build workloads: cspaper, player, art (med and legal: not yet re-run).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Reading a column up front is 2.7–5.9× cheaper than patching it later</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Total tokens (build + patches) relative to a build that anticipated every column</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1_anticipation.png"/>
          <p:cNvPicPr>
            <a:picLocks noChangeAspect="1"/>
          </p:cNvPicPr>
          <p:nvPr/>
        </p:nvPicPr>
        <p:blipFill>
          <a:blip r:embed="rId2"/>
          <a:stretch>
            <a:fillRect/>
          </a:stretch>
        </p:blipFill>
        <p:spPr>
          <a:xfrm>
            <a:off x="365760" y="1508760"/>
            <a:ext cx="7489371" cy="3931920"/>
          </a:xfrm>
          <a:prstGeom prst="rect">
            <a:avLst/>
          </a:prstGeom>
        </p:spPr>
      </p:pic>
      <p:graphicFrame>
        <p:nvGraphicFramePr>
          <p:cNvPr id="7" name="Table 6"/>
          <p:cNvGraphicFramePr>
            <a:graphicFrameLocks noGrp="1"/>
          </p:cNvGraphicFramePr>
          <p:nvPr/>
        </p:nvGraphicFramePr>
        <p:xfrm>
          <a:off x="8046720" y="1600200"/>
          <a:ext cx="3749040" cy="1975104"/>
        </p:xfrm>
        <a:graphic>
          <a:graphicData uri="http://schemas.openxmlformats.org/drawingml/2006/table">
            <a:tbl>
              <a:tblPr firstRow="1" bandRow="1">
                <a:tableStyleId>{5C22544A-7EE6-4342-B048-85BDC9FD1C3A}</a:tableStyleId>
              </a:tblPr>
              <a:tblGrid>
                <a:gridCol w="1188720"/>
                <a:gridCol w="1371600"/>
                <a:gridCol w="1188720"/>
              </a:tblGrid>
              <a:tr h="329184">
                <a:tc>
                  <a:txBody>
                    <a:bodyPr/>
                    <a:lstStyle/>
                    <a:p>
                      <a:r>
                        <a:rPr sz="1200" b="1">
                          <a:solidFill>
                            <a:srgbClr val="0B0B0B"/>
                          </a:solidFill>
                        </a:rPr>
                        <a:t>Corpus</a:t>
                      </a:r>
                    </a:p>
                  </a:txBody>
                  <a:tcPr marL="54864" marR="54864" marT="27432" marB="27432">
                    <a:solidFill>
                      <a:srgbClr val="F1F0EC"/>
                    </a:solidFill>
                  </a:tcPr>
                </a:tc>
                <a:tc>
                  <a:txBody>
                    <a:bodyPr/>
                    <a:lstStyle/>
                    <a:p>
                      <a:r>
                        <a:rPr sz="1200" b="1">
                          <a:solidFill>
                            <a:srgbClr val="0B0B0B"/>
                          </a:solidFill>
                        </a:rPr>
                        <a:t>Patch ÷ up front</a:t>
                      </a:r>
                    </a:p>
                  </a:txBody>
                  <a:tcPr marL="54864" marR="54864" marT="27432" marB="27432">
                    <a:solidFill>
                      <a:srgbClr val="F1F0EC"/>
                    </a:solidFill>
                  </a:tcPr>
                </a:tc>
                <a:tc>
                  <a:txBody>
                    <a:bodyPr/>
                    <a:lstStyle/>
                    <a:p>
                      <a:r>
                        <a:rPr sz="1200" b="1">
                          <a:solidFill>
                            <a:srgbClr val="0B0B0B"/>
                          </a:solidFill>
                        </a:rPr>
                        <a:t>Break-even</a:t>
                      </a:r>
                    </a:p>
                  </a:txBody>
                  <a:tcPr marL="54864" marR="54864" marT="27432" marB="27432">
                    <a:solidFill>
                      <a:srgbClr val="F1F0EC"/>
                    </a:solidFill>
                  </a:tcPr>
                </a:tc>
              </a:tr>
              <a:tr h="329184">
                <a:tc>
                  <a:txBody>
                    <a:bodyPr/>
                    <a:lstStyle/>
                    <a:p>
                      <a:r>
                        <a:rPr sz="1200" b="0">
                          <a:solidFill>
                            <a:srgbClr val="0B0B0B"/>
                          </a:solidFill>
                        </a:rPr>
                        <a:t>player</a:t>
                      </a:r>
                    </a:p>
                  </a:txBody>
                  <a:tcPr marL="54864" marR="54864" marT="27432" marB="27432">
                    <a:solidFill>
                      <a:srgbClr val="FFFFFF"/>
                    </a:solidFill>
                  </a:tcPr>
                </a:tc>
                <a:tc>
                  <a:txBody>
                    <a:bodyPr/>
                    <a:lstStyle/>
                    <a:p>
                      <a:r>
                        <a:rPr sz="1200" b="0">
                          <a:solidFill>
                            <a:srgbClr val="0B0B0B"/>
                          </a:solidFill>
                        </a:rPr>
                        <a:t>3.6×</a:t>
                      </a:r>
                    </a:p>
                  </a:txBody>
                  <a:tcPr marL="54864" marR="54864" marT="27432" marB="27432">
                    <a:solidFill>
                      <a:srgbClr val="FFFFFF"/>
                    </a:solidFill>
                  </a:tcPr>
                </a:tc>
                <a:tc>
                  <a:txBody>
                    <a:bodyPr/>
                    <a:lstStyle/>
                    <a:p>
                      <a:r>
                        <a:rPr sz="1200" b="0">
                          <a:solidFill>
                            <a:srgbClr val="0B0B0B"/>
                          </a:solidFill>
                        </a:rPr>
                        <a:t>1.3%</a:t>
                      </a:r>
                    </a:p>
                  </a:txBody>
                  <a:tcPr marL="54864" marR="54864" marT="27432" marB="27432">
                    <a:solidFill>
                      <a:srgbClr val="FFFFFF"/>
                    </a:solidFill>
                  </a:tcPr>
                </a:tc>
              </a:tr>
              <a:tr h="329184">
                <a:tc>
                  <a:txBody>
                    <a:bodyPr/>
                    <a:lstStyle/>
                    <a:p>
                      <a:r>
                        <a:rPr sz="1200" b="0">
                          <a:solidFill>
                            <a:srgbClr val="0B0B0B"/>
                          </a:solidFill>
                        </a:rPr>
                        <a:t>med</a:t>
                      </a:r>
                    </a:p>
                  </a:txBody>
                  <a:tcPr marL="54864" marR="54864" marT="27432" marB="27432">
                    <a:solidFill>
                      <a:srgbClr val="FFFFFF"/>
                    </a:solidFill>
                  </a:tcPr>
                </a:tc>
                <a:tc>
                  <a:txBody>
                    <a:bodyPr/>
                    <a:lstStyle/>
                    <a:p>
                      <a:r>
                        <a:rPr sz="1200" b="0">
                          <a:solidFill>
                            <a:srgbClr val="0B0B0B"/>
                          </a:solidFill>
                        </a:rPr>
                        <a:t>5.9×</a:t>
                      </a:r>
                    </a:p>
                  </a:txBody>
                  <a:tcPr marL="54864" marR="54864" marT="27432" marB="27432">
                    <a:solidFill>
                      <a:srgbClr val="FFFFFF"/>
                    </a:solidFill>
                  </a:tcPr>
                </a:tc>
                <a:tc>
                  <a:txBody>
                    <a:bodyPr/>
                    <a:lstStyle/>
                    <a:p>
                      <a:r>
                        <a:rPr sz="1200" b="0">
                          <a:solidFill>
                            <a:srgbClr val="0B0B0B"/>
                          </a:solidFill>
                        </a:rPr>
                        <a:t>1.9%</a:t>
                      </a:r>
                    </a:p>
                  </a:txBody>
                  <a:tcPr marL="54864" marR="54864" marT="27432" marB="27432">
                    <a:solidFill>
                      <a:srgbClr val="FFFFFF"/>
                    </a:solidFill>
                  </a:tcPr>
                </a:tc>
              </a:tr>
              <a:tr h="329184">
                <a:tc>
                  <a:txBody>
                    <a:bodyPr/>
                    <a:lstStyle/>
                    <a:p>
                      <a:r>
                        <a:rPr sz="1200" b="0">
                          <a:solidFill>
                            <a:srgbClr val="0B0B0B"/>
                          </a:solidFill>
                        </a:rPr>
                        <a:t>legal</a:t>
                      </a:r>
                    </a:p>
                  </a:txBody>
                  <a:tcPr marL="54864" marR="54864" marT="27432" marB="27432">
                    <a:solidFill>
                      <a:srgbClr val="FFFFFF"/>
                    </a:solidFill>
                  </a:tcPr>
                </a:tc>
                <a:tc>
                  <a:txBody>
                    <a:bodyPr/>
                    <a:lstStyle/>
                    <a:p>
                      <a:r>
                        <a:rPr sz="1200" b="0">
                          <a:solidFill>
                            <a:srgbClr val="0B0B0B"/>
                          </a:solidFill>
                        </a:rPr>
                        <a:t>4.9×</a:t>
                      </a:r>
                    </a:p>
                  </a:txBody>
                  <a:tcPr marL="54864" marR="54864" marT="27432" marB="27432">
                    <a:solidFill>
                      <a:srgbClr val="FFFFFF"/>
                    </a:solidFill>
                  </a:tcPr>
                </a:tc>
                <a:tc>
                  <a:txBody>
                    <a:bodyPr/>
                    <a:lstStyle/>
                    <a:p>
                      <a:r>
                        <a:rPr sz="1200" b="0">
                          <a:solidFill>
                            <a:srgbClr val="0B0B0B"/>
                          </a:solidFill>
                        </a:rPr>
                        <a:t>1.9%</a:t>
                      </a:r>
                    </a:p>
                  </a:txBody>
                  <a:tcPr marL="54864" marR="54864" marT="27432" marB="27432">
                    <a:solidFill>
                      <a:srgbClr val="FFFFFF"/>
                    </a:solidFill>
                  </a:tcPr>
                </a:tc>
              </a:tr>
              <a:tr h="329184">
                <a:tc>
                  <a:txBody>
                    <a:bodyPr/>
                    <a:lstStyle/>
                    <a:p>
                      <a:r>
                        <a:rPr sz="1200" b="0">
                          <a:solidFill>
                            <a:srgbClr val="0B0B0B"/>
                          </a:solidFill>
                        </a:rPr>
                        <a:t>art</a:t>
                      </a:r>
                    </a:p>
                  </a:txBody>
                  <a:tcPr marL="54864" marR="54864" marT="27432" marB="27432">
                    <a:solidFill>
                      <a:srgbClr val="FFFFFF"/>
                    </a:solidFill>
                  </a:tcPr>
                </a:tc>
                <a:tc>
                  <a:txBody>
                    <a:bodyPr/>
                    <a:lstStyle/>
                    <a:p>
                      <a:r>
                        <a:rPr sz="1200" b="0">
                          <a:solidFill>
                            <a:srgbClr val="0B0B0B"/>
                          </a:solidFill>
                        </a:rPr>
                        <a:t>2.7×</a:t>
                      </a:r>
                    </a:p>
                  </a:txBody>
                  <a:tcPr marL="54864" marR="54864" marT="27432" marB="27432">
                    <a:solidFill>
                      <a:srgbClr val="FFFFFF"/>
                    </a:solidFill>
                  </a:tcPr>
                </a:tc>
                <a:tc>
                  <a:txBody>
                    <a:bodyPr/>
                    <a:lstStyle/>
                    <a:p>
                      <a:r>
                        <a:rPr sz="1200" b="0">
                          <a:solidFill>
                            <a:srgbClr val="0B0B0B"/>
                          </a:solidFill>
                        </a:rPr>
                        <a:t>12%</a:t>
                      </a:r>
                    </a:p>
                  </a:txBody>
                  <a:tcPr marL="54864" marR="54864" marT="27432" marB="27432">
                    <a:solidFill>
                      <a:srgbClr val="FFFFFF"/>
                    </a:solidFill>
                  </a:tcPr>
                </a:tc>
              </a:tr>
              <a:tr h="329184">
                <a:tc>
                  <a:txBody>
                    <a:bodyPr/>
                    <a:lstStyle/>
                    <a:p>
                      <a:r>
                        <a:rPr sz="1200" b="0">
                          <a:solidFill>
                            <a:srgbClr val="0B0B0B"/>
                          </a:solidFill>
                        </a:rPr>
                        <a:t>cspaper</a:t>
                      </a:r>
                    </a:p>
                  </a:txBody>
                  <a:tcPr marL="54864" marR="54864" marT="27432" marB="27432">
                    <a:solidFill>
                      <a:srgbClr val="FFFFFF"/>
                    </a:solidFill>
                  </a:tcPr>
                </a:tc>
                <a:tc>
                  <a:txBody>
                    <a:bodyPr/>
                    <a:lstStyle/>
                    <a:p>
                      <a:r>
                        <a:rPr sz="1200" b="0">
                          <a:solidFill>
                            <a:srgbClr val="0B0B0B"/>
                          </a:solidFill>
                        </a:rPr>
                        <a:t>2.8×</a:t>
                      </a:r>
                    </a:p>
                  </a:txBody>
                  <a:tcPr marL="54864" marR="54864" marT="27432" marB="27432">
                    <a:solidFill>
                      <a:srgbClr val="FFFFFF"/>
                    </a:solidFill>
                  </a:tcPr>
                </a:tc>
                <a:tc>
                  <a:txBody>
                    <a:bodyPr/>
                    <a:lstStyle/>
                    <a:p>
                      <a:r>
                        <a:rPr sz="1200" b="0">
                          <a:solidFill>
                            <a:srgbClr val="0B0B0B"/>
                          </a:solidFill>
                        </a:rPr>
                        <a:t>13%</a:t>
                      </a:r>
                    </a:p>
                  </a:txBody>
                  <a:tcPr marL="54864" marR="54864" marT="27432" marB="27432">
                    <a:solidFill>
                      <a:srgbClr val="FFFFFF"/>
                    </a:solidFill>
                  </a:tcPr>
                </a:tc>
              </a:tr>
            </a:tbl>
          </a:graphicData>
        </a:graphic>
      </p:graphicFrame>
      <p:sp>
        <p:nvSpPr>
          <p:cNvPr id="8" name="TextBox 7"/>
          <p:cNvSpPr txBox="1"/>
          <p:nvPr/>
        </p:nvSpPr>
        <p:spPr>
          <a:xfrm>
            <a:off x="8046720" y="3749039"/>
            <a:ext cx="3840480" cy="2651760"/>
          </a:xfrm>
          <a:prstGeom prst="rect">
            <a:avLst/>
          </a:prstGeom>
          <a:noFill/>
        </p:spPr>
        <p:txBody>
          <a:bodyPr wrap="square" anchor="t" lIns="45720" rIns="45720">
            <a:spAutoFit/>
          </a:bodyPr>
          <a:lstStyle/>
          <a:p>
            <a:pPr algn="l">
              <a:spcAft>
                <a:spcPts val="600"/>
              </a:spcAft>
            </a:pPr>
            <a:r>
              <a:rPr sz="1300" b="0">
                <a:solidFill>
                  <a:srgbClr val="0B0B0B"/>
                </a:solidFill>
              </a:rPr>
              <a:t>•  Break-even: anticipate a column if the chance a future query needs it exceeds this probability.</a:t>
            </a:r>
          </a:p>
          <a:p>
            <a:pPr algn="l">
              <a:spcAft>
                <a:spcPts val="600"/>
              </a:spcAft>
            </a:pPr>
            <a:r>
              <a:rPr sz="1300" b="0">
                <a:solidFill>
                  <a:srgbClr val="0B0B0B"/>
                </a:solidFill>
              </a:rPr>
              <a:t>•  Anticipating adds one field to prompts that are read anyway; a patch re-reads every document in scope.</a:t>
            </a:r>
          </a:p>
          <a:p>
            <a:pPr algn="l">
              <a:spcAft>
                <a:spcPts val="600"/>
              </a:spcAft>
            </a:pPr>
            <a:r>
              <a:rPr sz="1300" b="0">
                <a:solidFill>
                  <a:srgbClr val="0B0B0B"/>
                </a:solidFill>
              </a:rPr>
              <a:t>•  Implication: extract every plausibly useful column during the build; keep patching as the safety 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Why patched scores move slightly under drift: the prompt, not drift</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Qwen 2.5 32B, 100% drift: patches given the build's prompt, or only its grouping or only its wording</a:t>
            </a:r>
          </a:p>
        </p:txBody>
      </p:sp>
      <p:sp>
        <p:nvSpPr>
          <p:cNvPr id="4" name="Rounded Rectangle 3"/>
          <p:cNvSpPr/>
          <p:nvPr/>
        </p:nvSpPr>
        <p:spPr>
          <a:xfrm>
            <a:off x="10287000" y="347472"/>
            <a:ext cx="1600200" cy="384048"/>
          </a:xfrm>
          <a:prstGeom prst="roundRect">
            <a:avLst/>
          </a:prstGeom>
          <a:solidFill>
            <a:srgbClr val="C98300"/>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Partly 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365760" y="1554480"/>
          <a:ext cx="6766560" cy="4023360"/>
        </p:xfrm>
        <a:graphic>
          <a:graphicData uri="http://schemas.openxmlformats.org/drawingml/2006/chart">
            <c:chart xmlns:c="http://schemas.openxmlformats.org/drawingml/2006/chart" r:id="rId2"/>
          </a:graphicData>
        </a:graphic>
      </p:graphicFrame>
      <p:sp>
        <p:nvSpPr>
          <p:cNvPr id="7" name="TextBox 6"/>
          <p:cNvSpPr txBox="1"/>
          <p:nvPr/>
        </p:nvSpPr>
        <p:spPr>
          <a:xfrm>
            <a:off x="7406640" y="1554480"/>
            <a:ext cx="4480560" cy="4846320"/>
          </a:xfrm>
          <a:prstGeom prst="rect">
            <a:avLst/>
          </a:prstGeom>
          <a:noFill/>
        </p:spPr>
        <p:txBody>
          <a:bodyPr wrap="square" anchor="t" lIns="45720" rIns="45720">
            <a:spAutoFit/>
          </a:bodyPr>
          <a:lstStyle/>
          <a:p>
            <a:pPr algn="l">
              <a:spcAft>
                <a:spcPts val="600"/>
              </a:spcAft>
            </a:pPr>
            <a:r>
              <a:rPr sz="1300" b="0">
                <a:solidFill>
                  <a:srgbClr val="0B0B0B"/>
                </a:solidFill>
              </a:rPr>
              <a:t>•  A build asks for all of a table's new columns in one prompt; a patch asks for 1–3.</a:t>
            </a:r>
          </a:p>
          <a:p>
            <a:pPr algn="l">
              <a:spcAft>
                <a:spcPts val="600"/>
              </a:spcAft>
            </a:pPr>
            <a:r>
              <a:rPr sz="1300" b="0">
                <a:solidFill>
                  <a:srgbClr val="0B0B0B"/>
                </a:solidFill>
              </a:rPr>
              <a:t>•  Giving patches the build's exact prompt brings every query back to its 0%-drift score: drift itself and the set of documents read contribute nothing.</a:t>
            </a:r>
          </a:p>
          <a:p>
            <a:pPr algn="l">
              <a:spcAft>
                <a:spcPts val="600"/>
              </a:spcAft>
            </a:pPr>
            <a:r>
              <a:rPr sz="1300" b="0">
                <a:solidFill>
                  <a:srgbClr val="0B0B0B"/>
                </a:solidFill>
              </a:rPr>
              <a:t>•  cspaper (+0.062, significant): entirely grouping. One column (single-hop vs multi-hop reasoning) is left empty on 64% of papers when read with six others, filled on 98% when read alone.</a:t>
            </a:r>
          </a:p>
          <a:p>
            <a:pPr algn="l">
              <a:spcAft>
                <a:spcPts val="600"/>
              </a:spcAft>
            </a:pPr>
            <a:r>
              <a:rPr sz="1300" b="0">
                <a:solidFill>
                  <a:srgbClr val="0B0B0B"/>
                </a:solidFill>
              </a:rPr>
              <a:t>•  player (+0.020, significant): split between grouping and wording.</a:t>
            </a:r>
          </a:p>
          <a:p>
            <a:pPr algn="l">
              <a:spcAft>
                <a:spcPts val="600"/>
              </a:spcAft>
            </a:pPr>
            <a:r>
              <a:rPr sz="1300" b="0">
                <a:solidFill>
                  <a:srgbClr val="0B0B0B"/>
                </a:solidFill>
              </a:rPr>
              <a:t>•  With the 7B model the same shifts are too small to be significant at the query level.</a:t>
            </a:r>
          </a:p>
        </p:txBody>
      </p:sp>
      <p:sp>
        <p:nvSpPr>
          <p:cNvPr id="8" name="TextBox 7"/>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With the 7B model the direction depends on the corpus (narrow prompts help on cspaper and player, hurt on art), but no single corpus's difference is significant.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Asking for fewer columns per prompt is not more accurate in general</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Same 12 columns, same document sample, 1 / 3 / 6 / 12 columns per prompt</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2_width.png"/>
          <p:cNvPicPr>
            <a:picLocks noChangeAspect="1"/>
          </p:cNvPicPr>
          <p:nvPr/>
        </p:nvPicPr>
        <p:blipFill>
          <a:blip r:embed="rId2"/>
          <a:stretch>
            <a:fillRect/>
          </a:stretch>
        </p:blipFill>
        <p:spPr>
          <a:xfrm>
            <a:off x="365760" y="1508760"/>
            <a:ext cx="7489371" cy="3931920"/>
          </a:xfrm>
          <a:prstGeom prst="rect">
            <a:avLst/>
          </a:prstGeom>
        </p:spPr>
      </p:pic>
      <p:sp>
        <p:nvSpPr>
          <p:cNvPr id="7" name="TextBox 6"/>
          <p:cNvSpPr txBox="1"/>
          <p:nvPr/>
        </p:nvSpPr>
        <p:spPr>
          <a:xfrm>
            <a:off x="7955279" y="1554480"/>
            <a:ext cx="3931920" cy="4846320"/>
          </a:xfrm>
          <a:prstGeom prst="rect">
            <a:avLst/>
          </a:prstGeom>
          <a:noFill/>
        </p:spPr>
        <p:txBody>
          <a:bodyPr wrap="square" anchor="t" lIns="45720" rIns="45720">
            <a:spAutoFit/>
          </a:bodyPr>
          <a:lstStyle/>
          <a:p>
            <a:pPr algn="l">
              <a:spcAft>
                <a:spcPts val="600"/>
              </a:spcAft>
            </a:pPr>
            <a:r>
              <a:rPr sz="1300" b="0">
                <a:solidFill>
                  <a:srgbClr val="0B0B0B"/>
                </a:solidFill>
              </a:rPr>
              <a:t>•  One column per prompt: better on legal (+0.068) and player (+0.026), worse on art (−0.034), flat on cspaper, mixed on med, and always 6–10× the tokens.</a:t>
            </a:r>
          </a:p>
          <a:p>
            <a:pPr algn="l">
              <a:spcAft>
                <a:spcPts val="600"/>
              </a:spcAft>
            </a:pPr>
            <a:r>
              <a:rPr sz="1300" b="0">
                <a:solidFill>
                  <a:srgbClr val="0B0B0B"/>
                </a:solidFill>
              </a:rPr>
              <a:t>•  Reading each new column alone vs with 6–8 others, with identical field text: average change 0.03, none significant across 22 columns, and no column property predicts the direction.</a:t>
            </a:r>
          </a:p>
          <a:p>
            <a:pPr algn="l">
              <a:spcAft>
                <a:spcPts val="600"/>
              </a:spcAft>
            </a:pPr>
            <a:r>
              <a:rPr sz="1300" b="0">
                <a:solidFill>
                  <a:srgbClr val="0B0B0B"/>
                </a:solidFill>
              </a:rPr>
              <a:t>•  Implication: extract many columns per prompt for cost; do not narrow prompts in the hope of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Which columns are sensitive to how they are prompted</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Patch prompt vs build prompt, cell by cell against the gold data (48 new columns, Qwen 2.5 7B)</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457200" y="1600200"/>
          <a:ext cx="11247119" cy="3657600"/>
        </p:xfrm>
        <a:graphic>
          <a:graphicData uri="http://schemas.openxmlformats.org/drawingml/2006/table">
            <a:tbl>
              <a:tblPr firstRow="1" bandRow="1">
                <a:tableStyleId>{5C22544A-7EE6-4342-B048-85BDC9FD1C3A}</a:tableStyleId>
              </a:tblPr>
              <a:tblGrid>
                <a:gridCol w="3108960"/>
                <a:gridCol w="4389120"/>
                <a:gridCol w="3749039"/>
              </a:tblGrid>
              <a:tr h="731520">
                <a:tc>
                  <a:txBody>
                    <a:bodyPr/>
                    <a:lstStyle/>
                    <a:p>
                      <a:r>
                        <a:rPr sz="1200" b="1">
                          <a:solidFill>
                            <a:srgbClr val="0B0B0B"/>
                          </a:solidFill>
                        </a:rPr>
                        <a:t>Kind of column</a:t>
                      </a:r>
                    </a:p>
                  </a:txBody>
                  <a:tcPr marL="54864" marR="54864" marT="27432" marB="27432">
                    <a:solidFill>
                      <a:srgbClr val="F1F0EC"/>
                    </a:solidFill>
                  </a:tcPr>
                </a:tc>
                <a:tc>
                  <a:txBody>
                    <a:bodyPr/>
                    <a:lstStyle/>
                    <a:p>
                      <a:r>
                        <a:rPr sz="1200" b="1">
                          <a:solidFill>
                            <a:srgbClr val="0B0B0B"/>
                          </a:solidFill>
                        </a:rPr>
                        <a:t>What the prompt changes</a:t>
                      </a:r>
                    </a:p>
                  </a:txBody>
                  <a:tcPr marL="54864" marR="54864" marT="27432" marB="27432">
                    <a:solidFill>
                      <a:srgbClr val="F1F0EC"/>
                    </a:solidFill>
                  </a:tcPr>
                </a:tc>
                <a:tc>
                  <a:txBody>
                    <a:bodyPr/>
                    <a:lstStyle/>
                    <a:p>
                      <a:r>
                        <a:rPr sz="1200" b="1">
                          <a:solidFill>
                            <a:srgbClr val="0B0B0B"/>
                          </a:solidFill>
                        </a:rPr>
                        <a:t>Example</a:t>
                      </a:r>
                    </a:p>
                  </a:txBody>
                  <a:tcPr marL="54864" marR="54864" marT="27432" marB="27432">
                    <a:solidFill>
                      <a:srgbClr val="F1F0EC"/>
                    </a:solidFill>
                  </a:tcPr>
                </a:tc>
              </a:tr>
              <a:tr h="731520">
                <a:tc>
                  <a:txBody>
                    <a:bodyPr/>
                    <a:lstStyle/>
                    <a:p>
                      <a:r>
                        <a:rPr sz="1200" b="0">
                          <a:solidFill>
                            <a:srgbClr val="0B0B0B"/>
                          </a:solidFill>
                        </a:rPr>
                        <a:t>Numbers and yes/no</a:t>
                      </a:r>
                    </a:p>
                  </a:txBody>
                  <a:tcPr marL="54864" marR="54864" marT="27432" marB="27432">
                    <a:solidFill>
                      <a:srgbClr val="FFFFFF"/>
                    </a:solidFill>
                  </a:tcPr>
                </a:tc>
                <a:tc>
                  <a:txBody>
                    <a:bodyPr/>
                    <a:lstStyle/>
                    <a:p>
                      <a:r>
                        <a:rPr sz="1200" b="0">
                          <a:solidFill>
                            <a:srgbClr val="0B0B0B"/>
                          </a:solidFill>
                        </a:rPr>
                        <a:t>Almost nothing (at most 0.04)</a:t>
                      </a:r>
                    </a:p>
                  </a:txBody>
                  <a:tcPr marL="54864" marR="54864" marT="27432" marB="27432">
                    <a:solidFill>
                      <a:srgbClr val="FFFFFF"/>
                    </a:solidFill>
                  </a:tcPr>
                </a:tc>
                <a:tc>
                  <a:txBody>
                    <a:bodyPr/>
                    <a:lstStyle/>
                    <a:p>
                      <a:r>
                        <a:rPr sz="1200" b="0">
                          <a:solidFill>
                            <a:srgbClr val="0B0B0B"/>
                          </a:solidFill>
                        </a:rPr>
                        <a:t>Draft pick, championships, uses an agent (yes/no)</a:t>
                      </a:r>
                    </a:p>
                  </a:txBody>
                  <a:tcPr marL="54864" marR="54864" marT="27432" marB="27432">
                    <a:solidFill>
                      <a:srgbClr val="FFFFFF"/>
                    </a:solidFill>
                  </a:tcPr>
                </a:tc>
              </a:tr>
              <a:tr h="731520">
                <a:tc>
                  <a:txBody>
                    <a:bodyPr/>
                    <a:lstStyle/>
                    <a:p>
                      <a:r>
                        <a:rPr sz="1200" b="0">
                          <a:solidFill>
                            <a:srgbClr val="0B0B0B"/>
                          </a:solidFill>
                        </a:rPr>
                        <a:t>Descriptive text and multi-choice lists that documents often leave unstated</a:t>
                      </a:r>
                    </a:p>
                  </a:txBody>
                  <a:tcPr marL="54864" marR="54864" marT="27432" marB="27432">
                    <a:solidFill>
                      <a:srgbClr val="FFFFFF"/>
                    </a:solidFill>
                  </a:tcPr>
                </a:tc>
                <a:tc>
                  <a:txBody>
                    <a:bodyPr/>
                    <a:lstStyle/>
                    <a:p>
                      <a:r>
                        <a:rPr sz="1200" b="0">
                          <a:solidFill>
                            <a:srgbClr val="0B0B0B"/>
                          </a:solidFill>
                        </a:rPr>
                        <a:t>How often the model leaves a cell empty. Narrow prompts abstain more: right where the gold data is often empty, wrong where it is filled</a:t>
                      </a:r>
                    </a:p>
                  </a:txBody>
                  <a:tcPr marL="54864" marR="54864" marT="27432" marB="27432">
                    <a:solidFill>
                      <a:srgbClr val="FFFFFF"/>
                    </a:solidFill>
                  </a:tcPr>
                </a:tc>
                <a:tc>
                  <a:txBody>
                    <a:bodyPr/>
                    <a:lstStyle/>
                    <a:p>
                      <a:r>
                        <a:rPr sz="1200" b="0">
                          <a:solidFill>
                            <a:srgbClr val="0B0B0B"/>
                          </a:solidFill>
                        </a:rPr>
                        <a:t>Drug storage conditions: +0.43 (gold empty 82%); defendant's status: −0.18 (gold empty 10%)</a:t>
                      </a:r>
                    </a:p>
                  </a:txBody>
                  <a:tcPr marL="54864" marR="54864" marT="27432" marB="27432">
                    <a:solidFill>
                      <a:srgbClr val="FFFFFF"/>
                    </a:solidFill>
                  </a:tcPr>
                </a:tc>
              </a:tr>
              <a:tr h="731520">
                <a:tc>
                  <a:txBody>
                    <a:bodyPr/>
                    <a:lstStyle/>
                    <a:p>
                      <a:r>
                        <a:rPr sz="1200" b="0">
                          <a:solidFill>
                            <a:srgbClr val="0B0B0B"/>
                          </a:solidFill>
                        </a:rPr>
                        <a:t>Values with several possible forms</a:t>
                      </a:r>
                    </a:p>
                  </a:txBody>
                  <a:tcPr marL="54864" marR="54864" marT="27432" marB="27432">
                    <a:solidFill>
                      <a:srgbClr val="FFFFFF"/>
                    </a:solidFill>
                  </a:tcPr>
                </a:tc>
                <a:tc>
                  <a:txBody>
                    <a:bodyPr/>
                    <a:lstStyle/>
                    <a:p>
                      <a:r>
                        <a:rPr sz="1200" b="0">
                          <a:solidFill>
                            <a:srgbClr val="0B0B0B"/>
                          </a:solidFill>
                        </a:rPr>
                        <a:t>The form, not the fact</a:t>
                      </a:r>
                    </a:p>
                  </a:txBody>
                  <a:tcPr marL="54864" marR="54864" marT="27432" marB="27432">
                    <a:solidFill>
                      <a:srgbClr val="FFFFFF"/>
                    </a:solidFill>
                  </a:tcPr>
                </a:tc>
                <a:tc>
                  <a:txBody>
                    <a:bodyPr/>
                    <a:lstStyle/>
                    <a:p>
                      <a:r>
                        <a:rPr sz="1200" b="0">
                          <a:solidFill>
                            <a:srgbClr val="0B0B0B"/>
                          </a:solidFill>
                        </a:rPr>
                        <a:t>Judge: "Justice Cowdroy" vs "Cowdroy"; counsel with or without the law firm; century "20th" vs "20th-21st"</a:t>
                      </a:r>
                    </a:p>
                  </a:txBody>
                  <a:tcPr marL="54864" marR="54864" marT="27432" marB="27432">
                    <a:solidFill>
                      <a:srgbClr val="FFFFFF"/>
                    </a:solidFill>
                  </a:tcPr>
                </a:tc>
              </a:tr>
              <a:tr h="731520">
                <a:tc>
                  <a:txBody>
                    <a:bodyPr/>
                    <a:lstStyle/>
                    <a:p>
                      <a:r>
                        <a:rPr sz="1200" b="0">
                          <a:solidFill>
                            <a:srgbClr val="0B0B0B"/>
                          </a:solidFill>
                        </a:rPr>
                        <a:t>Columns whose prompt line shows example values</a:t>
                      </a:r>
                    </a:p>
                  </a:txBody>
                  <a:tcPr marL="54864" marR="54864" marT="27432" marB="27432">
                    <a:solidFill>
                      <a:srgbClr val="FFFFFF"/>
                    </a:solidFill>
                  </a:tcPr>
                </a:tc>
                <a:tc>
                  <a:txBody>
                    <a:bodyPr/>
                    <a:lstStyle/>
                    <a:p>
                      <a:r>
                        <a:rPr sz="1200" b="0">
                          <a:solidFill>
                            <a:srgbClr val="0B0B0B"/>
                          </a:solidFill>
                        </a:rPr>
                        <a:t>The examples steer form and filling</a:t>
                      </a:r>
                    </a:p>
                  </a:txBody>
                  <a:tcPr marL="54864" marR="54864" marT="27432" marB="27432">
                    <a:solidFill>
                      <a:srgbClr val="FFFFFF"/>
                    </a:solidFill>
                  </a:tcPr>
                </a:tc>
                <a:tc>
                  <a:txBody>
                    <a:bodyPr/>
                    <a:lstStyle/>
                    <a:p>
                      <a:r>
                        <a:rPr sz="1200" b="0">
                          <a:solidFill>
                            <a:srgbClr val="0B0B0B"/>
                          </a:solidFill>
                        </a:rPr>
                        <a:t>Art century: example ranges in the prompt → ranges in the answers</a:t>
                      </a:r>
                    </a:p>
                  </a:txBody>
                  <a:tcPr marL="54864" marR="54864" marT="27432" marB="27432">
                    <a:solidFill>
                      <a:srgbClr val="FFFFFF"/>
                    </a:solidFill>
                  </a:tcPr>
                </a:tc>
              </a:tr>
            </a:tbl>
          </a:graphicData>
        </a:graphic>
      </p:graphicFrame>
      <p:sp>
        <p:nvSpPr>
          <p:cNvPr id="7" name="TextBox 6"/>
          <p:cNvSpPr txBox="1"/>
          <p:nvPr/>
        </p:nvSpPr>
        <p:spPr>
          <a:xfrm>
            <a:off x="457200" y="5440680"/>
            <a:ext cx="11247120" cy="914400"/>
          </a:xfrm>
          <a:prstGeom prst="rect">
            <a:avLst/>
          </a:prstGeom>
          <a:noFill/>
        </p:spPr>
        <p:txBody>
          <a:bodyPr wrap="square" anchor="t" lIns="45720" rIns="45720">
            <a:spAutoFit/>
          </a:bodyPr>
          <a:lstStyle/>
          <a:p>
            <a:pPr algn="l">
              <a:spcAft>
                <a:spcPts val="600"/>
              </a:spcAft>
            </a:pPr>
            <a:r>
              <a:rPr sz="1300" b="0">
                <a:solidFill>
                  <a:srgbClr val="0B0B0B"/>
                </a:solidFill>
              </a:rPr>
              <a:t>•  Per column the effects are large and significant (art 6 of 9 columns, med 5 of 18, legal 4 of 8) but go both ways, so query-level averages barely move.</a:t>
            </a:r>
          </a:p>
        </p:txBody>
      </p:sp>
      <p:sp>
        <p:nvSpPr>
          <p:cNvPr id="8" name="TextBox 7"/>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med and legal examples come from the earlier version of their test queries; the comparison has not yet been repeated on the regenerated queries.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Corpus effect: prompt sensitivity follows how definite the values are</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Average change per column between patch and build prompts</a:t>
            </a:r>
          </a:p>
        </p:txBody>
      </p:sp>
      <p:sp>
        <p:nvSpPr>
          <p:cNvPr id="4" name="Rounded Rectangle 3"/>
          <p:cNvSpPr/>
          <p:nvPr/>
        </p:nvSpPr>
        <p:spPr>
          <a:xfrm>
            <a:off x="10287000" y="347472"/>
            <a:ext cx="1600200" cy="384048"/>
          </a:xfrm>
          <a:prstGeom prst="roundRect">
            <a:avLst/>
          </a:prstGeom>
          <a:solidFill>
            <a:srgbClr val="C98300"/>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Partly 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365760" y="1554480"/>
          <a:ext cx="5852160" cy="4023360"/>
        </p:xfrm>
        <a:graphic>
          <a:graphicData uri="http://schemas.openxmlformats.org/drawingml/2006/chart">
            <c:chart xmlns:c="http://schemas.openxmlformats.org/drawingml/2006/chart" r:id="rId2"/>
          </a:graphicData>
        </a:graphic>
      </p:graphicFrame>
      <p:sp>
        <p:nvSpPr>
          <p:cNvPr id="7" name="TextBox 6"/>
          <p:cNvSpPr txBox="1"/>
          <p:nvPr/>
        </p:nvSpPr>
        <p:spPr>
          <a:xfrm>
            <a:off x="6492240" y="1554480"/>
            <a:ext cx="5394960" cy="4846320"/>
          </a:xfrm>
          <a:prstGeom prst="rect">
            <a:avLst/>
          </a:prstGeom>
          <a:noFill/>
        </p:spPr>
        <p:txBody>
          <a:bodyPr wrap="square" anchor="t" lIns="45720" rIns="45720">
            <a:spAutoFit/>
          </a:bodyPr>
          <a:lstStyle/>
          <a:p>
            <a:pPr algn="l">
              <a:spcAft>
                <a:spcPts val="600"/>
              </a:spcAft>
            </a:pPr>
            <a:r>
              <a:rPr sz="1300" b="0">
                <a:solidFill>
                  <a:srgbClr val="0B0B0B"/>
                </a:solidFill>
              </a:rPr>
              <a:t>•  Med and legal are 2.5–4× as sensitive, even comparing only free-text columns.</a:t>
            </a:r>
          </a:p>
          <a:p>
            <a:pPr algn="l">
              <a:spcAft>
                <a:spcPts val="600"/>
              </a:spcAft>
            </a:pPr>
            <a:r>
              <a:rPr sz="1300" b="0">
                <a:solidFill>
                  <a:srgbClr val="0B0B0B"/>
                </a:solidFill>
              </a:rPr>
              <a:t>•  Not document length: within a corpus, the two prompts disagree as often on short documents as on long ones (med 81% vs 71% of cells).</a:t>
            </a:r>
          </a:p>
          <a:p>
            <a:pPr algn="l">
              <a:spcAft>
                <a:spcPts val="600"/>
              </a:spcAft>
            </a:pPr>
            <a:r>
              <a:rPr sz="1300" b="0">
                <a:solidFill>
                  <a:srgbClr val="0B0B0B"/>
                </a:solidFill>
              </a:rPr>
              <a:t>•  Med's and legal's columns are judgments with no canonical answer (a disease's causes, a party's status), often unstated (gold empty 27–42%) and often lists: two prompts disagree on 40–80% of cells. Player's are stated numbers: 7–13%.</a:t>
            </a:r>
          </a:p>
          <a:p>
            <a:pPr algn="l">
              <a:spcAft>
                <a:spcPts val="600"/>
              </a:spcAft>
            </a:pPr>
            <a:r>
              <a:rPr sz="1300" b="0">
                <a:solidFill>
                  <a:srgbClr val="0B0B0B"/>
                </a:solidFill>
              </a:rPr>
              <a:t>•  Not separable with five corpora: descriptive columns, frequent empty gold values and lists come together in med and legal.</a:t>
            </a:r>
          </a:p>
        </p:txBody>
      </p:sp>
      <p:sp>
        <p:nvSpPr>
          <p:cNvPr id="8" name="TextBox 7"/>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Measured on the earlier med and legal query sets; the per-column comparison has not yet been repeated on the regenerated queries.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Spending a limited budget: no policy reliably beats first-come-first-served</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Mean score over 25 budget × drift settings, difference to first-come-first-served</a:t>
            </a:r>
          </a:p>
        </p:txBody>
      </p:sp>
      <p:sp>
        <p:nvSpPr>
          <p:cNvPr id="4" name="Rounded Rectangle 3"/>
          <p:cNvSpPr/>
          <p:nvPr/>
        </p:nvSpPr>
        <p:spPr>
          <a:xfrm>
            <a:off x="10287000" y="347472"/>
            <a:ext cx="1600200" cy="384048"/>
          </a:xfrm>
          <a:prstGeom prst="roundRect">
            <a:avLst/>
          </a:prstGeom>
          <a:solidFill>
            <a:srgbClr val="C98300"/>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Partly 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3_policies.png"/>
          <p:cNvPicPr>
            <a:picLocks noChangeAspect="1"/>
          </p:cNvPicPr>
          <p:nvPr/>
        </p:nvPicPr>
        <p:blipFill>
          <a:blip r:embed="rId2"/>
          <a:stretch>
            <a:fillRect/>
          </a:stretch>
        </p:blipFill>
        <p:spPr>
          <a:xfrm>
            <a:off x="365760" y="1600200"/>
            <a:ext cx="7040880" cy="2957170"/>
          </a:xfrm>
          <a:prstGeom prst="rect">
            <a:avLst/>
          </a:prstGeom>
        </p:spPr>
      </p:pic>
      <p:sp>
        <p:nvSpPr>
          <p:cNvPr id="7" name="TextBox 6"/>
          <p:cNvSpPr txBox="1"/>
          <p:nvPr/>
        </p:nvSpPr>
        <p:spPr>
          <a:xfrm>
            <a:off x="7589520" y="1554480"/>
            <a:ext cx="4297680" cy="4846320"/>
          </a:xfrm>
          <a:prstGeom prst="rect">
            <a:avLst/>
          </a:prstGeom>
          <a:noFill/>
        </p:spPr>
        <p:txBody>
          <a:bodyPr wrap="square" anchor="t" lIns="45720" rIns="45720">
            <a:spAutoFit/>
          </a:bodyPr>
          <a:lstStyle/>
          <a:p>
            <a:pPr algn="l">
              <a:spcAft>
                <a:spcPts val="600"/>
              </a:spcAft>
            </a:pPr>
            <a:r>
              <a:rPr sz="1300" b="0">
                <a:solidFill>
                  <a:srgbClr val="0B0B0B"/>
                </a:solidFill>
              </a:rPr>
              <a:t>•  Pacing (spend in step with the stream) helps on cspaper and art, hurts on player.</a:t>
            </a:r>
          </a:p>
          <a:p>
            <a:pPr algn="l">
              <a:spcAft>
                <a:spcPts val="600"/>
              </a:spcAft>
            </a:pPr>
            <a:r>
              <a:rPr sz="1300" b="0">
                <a:solidFill>
                  <a:srgbClr val="0B0B0B"/>
                </a:solidFill>
              </a:rPr>
              <a:t>•  Capping any single extraction hurts on every corpus.</a:t>
            </a:r>
          </a:p>
          <a:p>
            <a:pPr algn="l">
              <a:spcAft>
                <a:spcPts val="600"/>
              </a:spcAft>
            </a:pPr>
            <a:r>
              <a:rPr sz="1300" b="0">
                <a:solidFill>
                  <a:srgbClr val="0B0B0B"/>
                </a:solidFill>
              </a:rPr>
              <a:t>•  Skipping extractions that bought nothing (known only in hindsight) changes nothing: few did.</a:t>
            </a:r>
          </a:p>
          <a:p>
            <a:pPr algn="l">
              <a:spcAft>
                <a:spcPts val="600"/>
              </a:spcAft>
            </a:pPr>
            <a:r>
              <a:rPr sz="1300" b="0">
                <a:solidFill>
                  <a:srgbClr val="0B0B0B"/>
                </a:solidFill>
              </a:rPr>
              <a:t>•  An offline plan that knows the whole stream is not better either (−0.008 to +0.003): an extraction's cost and value depend on what was extracted before it (one chosen extraction grew from 1 to 29 documents without its predecessors).</a:t>
            </a:r>
          </a:p>
        </p:txBody>
      </p:sp>
      <p:sp>
        <p:nvSpPr>
          <p:cNvPr id="8" name="TextBox 7"/>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Three corpora. med and legal: running. Not settled: a true upper bound for budget policies and the value-per-token policies planned but not yet built.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Cost can be predicted almost exactly; value only partly</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Extractions whose tokens improved no answer, by what the SQL shows (unlimited budget, all drift levels)</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4_signals.png"/>
          <p:cNvPicPr>
            <a:picLocks noChangeAspect="1"/>
          </p:cNvPicPr>
          <p:nvPr/>
        </p:nvPicPr>
        <p:blipFill>
          <a:blip r:embed="rId2"/>
          <a:stretch>
            <a:fillRect/>
          </a:stretch>
        </p:blipFill>
        <p:spPr>
          <a:xfrm>
            <a:off x="365760" y="1554480"/>
            <a:ext cx="7680960" cy="2374115"/>
          </a:xfrm>
          <a:prstGeom prst="rect">
            <a:avLst/>
          </a:prstGeom>
        </p:spPr>
      </p:pic>
      <p:sp>
        <p:nvSpPr>
          <p:cNvPr id="7" name="TextBox 6"/>
          <p:cNvSpPr txBox="1"/>
          <p:nvPr/>
        </p:nvSpPr>
        <p:spPr>
          <a:xfrm>
            <a:off x="457200" y="4206240"/>
            <a:ext cx="11247120" cy="2194560"/>
          </a:xfrm>
          <a:prstGeom prst="rect">
            <a:avLst/>
          </a:prstGeom>
          <a:noFill/>
        </p:spPr>
        <p:txBody>
          <a:bodyPr wrap="square" anchor="t" lIns="45720" rIns="45720">
            <a:spAutoFit/>
          </a:bodyPr>
          <a:lstStyle/>
          <a:p>
            <a:pPr algn="l">
              <a:spcAft>
                <a:spcPts val="600"/>
              </a:spcAft>
            </a:pPr>
            <a:r>
              <a:rPr sz="1300" b="0">
                <a:solidFill>
                  <a:srgbClr val="0B0B0B"/>
                </a:solidFill>
              </a:rPr>
              <a:t>•  Estimated vs actual extraction tokens: median ratio 0.997–1.005 on every corpus.</a:t>
            </a:r>
          </a:p>
          <a:p>
            <a:pPr algn="l">
              <a:spcAft>
                <a:spcPts val="600"/>
              </a:spcAft>
            </a:pPr>
            <a:r>
              <a:rPr sz="1300" b="0">
                <a:solidFill>
                  <a:srgbClr val="0B0B0B"/>
                </a:solidFill>
              </a:rPr>
              <a:t>•  16% of extraction tokens improved no answer (player 0%, art 16%, legal 19%, med 33%, cspaper 39% at 100% drift).</a:t>
            </a:r>
          </a:p>
          <a:p>
            <a:pPr algn="l">
              <a:spcAft>
                <a:spcPts val="600"/>
              </a:spcAft>
            </a:pPr>
            <a:r>
              <a:rPr sz="1300" b="0">
                <a:solidFill>
                  <a:srgbClr val="0B0B0B"/>
                </a:solidFill>
              </a:rPr>
              <a:t>•  Extractions over the whole corpus (no filter in the query) hold 58% of that waste; aggregates such as AVG/SUM almost never waste.</a:t>
            </a:r>
          </a:p>
          <a:p>
            <a:pPr algn="l">
              <a:spcAft>
                <a:spcPts val="600"/>
              </a:spcAft>
            </a:pPr>
            <a:r>
              <a:rPr sz="1300" b="0">
                <a:solidFill>
                  <a:srgbClr val="0B0B0B"/>
                </a:solidFill>
              </a:rPr>
              <a:t>•  Implication: a planner can trust its cost model; whole-corpus extractions are the ones whose value to check.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A cost-based planner never reaches one shared pass with good field descriptions</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Basketball players, 20 held-out queries</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5_planner.png"/>
          <p:cNvPicPr>
            <a:picLocks noChangeAspect="1"/>
          </p:cNvPicPr>
          <p:nvPr/>
        </p:nvPicPr>
        <p:blipFill>
          <a:blip r:embed="rId2"/>
          <a:stretch>
            <a:fillRect/>
          </a:stretch>
        </p:blipFill>
        <p:spPr>
          <a:xfrm>
            <a:off x="365760" y="1508760"/>
            <a:ext cx="8229600" cy="4206240"/>
          </a:xfrm>
          <a:prstGeom prst="rect">
            <a:avLst/>
          </a:prstGeom>
        </p:spPr>
      </p:pic>
      <p:sp>
        <p:nvSpPr>
          <p:cNvPr id="7" name="TextBox 6"/>
          <p:cNvSpPr txBox="1"/>
          <p:nvPr/>
        </p:nvSpPr>
        <p:spPr>
          <a:xfrm>
            <a:off x="8778240" y="1554480"/>
            <a:ext cx="3108960" cy="4846320"/>
          </a:xfrm>
          <a:prstGeom prst="rect">
            <a:avLst/>
          </a:prstGeom>
          <a:noFill/>
        </p:spPr>
        <p:txBody>
          <a:bodyPr wrap="square" anchor="t" lIns="45720" rIns="45720">
            <a:spAutoFit/>
          </a:bodyPr>
          <a:lstStyle/>
          <a:p>
            <a:pPr algn="l">
              <a:spcAft>
                <a:spcPts val="600"/>
              </a:spcAft>
            </a:pPr>
            <a:r>
              <a:rPr sz="1300" b="0">
                <a:solidFill>
                  <a:srgbClr val="0B0B0B"/>
                </a:solidFill>
              </a:rPr>
              <a:t>•  Field descriptions are worth +0.33 on one shared pass (0.234 → 0.560): the largest effect measured.</a:t>
            </a:r>
          </a:p>
          <a:p>
            <a:pPr algn="l">
              <a:spcAft>
                <a:spcPts val="600"/>
              </a:spcAft>
            </a:pPr>
            <a:r>
              <a:rPr sz="1300" b="0">
                <a:solidFill>
                  <a:srgbClr val="0B0B0B"/>
                </a:solidFill>
              </a:rPr>
              <a:t>•  The planner leaves join keys unread at small budgets and much of its budget unspent at large ones.</a:t>
            </a:r>
          </a:p>
          <a:p>
            <a:pPr algn="l">
              <a:spcAft>
                <a:spcPts val="600"/>
              </a:spcAft>
            </a:pPr>
            <a:r>
              <a:rPr sz="1300" b="0">
                <a:solidFill>
                  <a:srgbClr val="0B0B0B"/>
                </a:solidFill>
              </a:rPr>
              <a:t>•  Cause: it scores plans by agreement with each query's own extraction, so it cannot recognise a more accurate shared one.</a:t>
            </a:r>
          </a:p>
        </p:txBody>
      </p:sp>
      <p:sp>
        <p:nvSpPr>
          <p:cNvPr id="8" name="TextBox 7"/>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One corpus. Not yet done: a planner with a different objective (open).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Extraction order changes which documents are read, not the values read</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Cells that differ between a budget-limited and the unlimited run at the same drift level</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6_cells.png"/>
          <p:cNvPicPr>
            <a:picLocks noChangeAspect="1"/>
          </p:cNvPicPr>
          <p:nvPr/>
        </p:nvPicPr>
        <p:blipFill>
          <a:blip r:embed="rId2"/>
          <a:stretch>
            <a:fillRect/>
          </a:stretch>
        </p:blipFill>
        <p:spPr>
          <a:xfrm>
            <a:off x="365760" y="1508760"/>
            <a:ext cx="7680960" cy="3243072"/>
          </a:xfrm>
          <a:prstGeom prst="rect">
            <a:avLst/>
          </a:prstGeom>
        </p:spPr>
      </p:pic>
      <p:sp>
        <p:nvSpPr>
          <p:cNvPr id="7" name="TextBox 6"/>
          <p:cNvSpPr txBox="1"/>
          <p:nvPr/>
        </p:nvSpPr>
        <p:spPr>
          <a:xfrm>
            <a:off x="8229600" y="1554480"/>
            <a:ext cx="3657600" cy="4846320"/>
          </a:xfrm>
          <a:prstGeom prst="rect">
            <a:avLst/>
          </a:prstGeom>
          <a:noFill/>
        </p:spPr>
        <p:txBody>
          <a:bodyPr wrap="square" anchor="t" lIns="45720" rIns="45720">
            <a:spAutoFit/>
          </a:bodyPr>
          <a:lstStyle/>
          <a:p>
            <a:pPr algn="l">
              <a:spcAft>
                <a:spcPts val="600"/>
              </a:spcAft>
            </a:pPr>
            <a:r>
              <a:rPr sz="1300" b="0">
                <a:solidFill>
                  <a:srgbClr val="0B0B0B"/>
                </a:solidFill>
              </a:rPr>
              <a:t>•  A value is never overwritten; differences are almost all filled-vs-empty.</a:t>
            </a:r>
          </a:p>
          <a:p>
            <a:pPr algn="l">
              <a:spcAft>
                <a:spcPts val="600"/>
              </a:spcAft>
            </a:pPr>
            <a:r>
              <a:rPr sz="1300" b="0">
                <a:solidFill>
                  <a:srgbClr val="0B0B0B"/>
                </a:solidFill>
              </a:rPr>
              <a:t>•  A budget-limited run beats the unlimited one on 8–31 queries per corpus, nearly all answered without their own extraction.</a:t>
            </a:r>
          </a:p>
          <a:p>
            <a:pPr algn="l">
              <a:spcAft>
                <a:spcPts val="600"/>
              </a:spcAft>
            </a:pPr>
            <a:r>
              <a:rPr sz="1300" b="0">
                <a:solidFill>
                  <a:srgbClr val="0B0B0B"/>
                </a:solidFill>
              </a:rPr>
              <a:t>•  Reading a column for documents where it does not apply can hurt: the model invents values (82 papers given an agent framework they do not have).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The conclusions hold across models; the larger model is better at the same cost</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Patched (bars) vs static build (dashed) at 100% drift</a:t>
            </a:r>
          </a:p>
        </p:txBody>
      </p:sp>
      <p:sp>
        <p:nvSpPr>
          <p:cNvPr id="4" name="Rounded Rectangle 3"/>
          <p:cNvSpPr/>
          <p:nvPr/>
        </p:nvSpPr>
        <p:spPr>
          <a:xfrm>
            <a:off x="10287000" y="347472"/>
            <a:ext cx="1600200" cy="384048"/>
          </a:xfrm>
          <a:prstGeom prst="roundRect">
            <a:avLst/>
          </a:prstGeom>
          <a:solidFill>
            <a:srgbClr val="C98300"/>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Partly 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7_models.png"/>
          <p:cNvPicPr>
            <a:picLocks noChangeAspect="1"/>
          </p:cNvPicPr>
          <p:nvPr/>
        </p:nvPicPr>
        <p:blipFill>
          <a:blip r:embed="rId2"/>
          <a:stretch>
            <a:fillRect/>
          </a:stretch>
        </p:blipFill>
        <p:spPr>
          <a:xfrm>
            <a:off x="365760" y="1508760"/>
            <a:ext cx="11430000" cy="3341077"/>
          </a:xfrm>
          <a:prstGeom prst="rect">
            <a:avLst/>
          </a:prstGeom>
        </p:spPr>
      </p:pic>
      <p:graphicFrame>
        <p:nvGraphicFramePr>
          <p:cNvPr id="7" name="Table 6"/>
          <p:cNvGraphicFramePr>
            <a:graphicFrameLocks noGrp="1"/>
          </p:cNvGraphicFramePr>
          <p:nvPr/>
        </p:nvGraphicFramePr>
        <p:xfrm>
          <a:off x="457200" y="4983480"/>
          <a:ext cx="7315200" cy="1097280"/>
        </p:xfrm>
        <a:graphic>
          <a:graphicData uri="http://schemas.openxmlformats.org/drawingml/2006/table">
            <a:tbl>
              <a:tblPr firstRow="1" bandRow="1">
                <a:tableStyleId>{5C22544A-7EE6-4342-B048-85BDC9FD1C3A}</a:tableStyleId>
              </a:tblPr>
              <a:tblGrid>
                <a:gridCol w="2103120"/>
                <a:gridCol w="1554480"/>
                <a:gridCol w="1554480"/>
                <a:gridCol w="2103120"/>
              </a:tblGrid>
              <a:tr h="274320">
                <a:tc>
                  <a:txBody>
                    <a:bodyPr/>
                    <a:lstStyle/>
                    <a:p>
                      <a:r>
                        <a:rPr sz="1100" b="1">
                          <a:solidFill>
                            <a:srgbClr val="0B0B0B"/>
                          </a:solidFill>
                        </a:rPr>
                        <a:t>0% → 100% drift, patched</a:t>
                      </a:r>
                    </a:p>
                  </a:txBody>
                  <a:tcPr marL="54864" marR="54864" marT="27432" marB="27432">
                    <a:solidFill>
                      <a:srgbClr val="F1F0EC"/>
                    </a:solidFill>
                  </a:tcPr>
                </a:tc>
                <a:tc>
                  <a:txBody>
                    <a:bodyPr/>
                    <a:lstStyle/>
                    <a:p>
                      <a:r>
                        <a:rPr sz="1100" b="1">
                          <a:solidFill>
                            <a:srgbClr val="0B0B0B"/>
                          </a:solidFill>
                        </a:rPr>
                        <a:t>Llama 3.1 8B</a:t>
                      </a:r>
                    </a:p>
                  </a:txBody>
                  <a:tcPr marL="54864" marR="54864" marT="27432" marB="27432">
                    <a:solidFill>
                      <a:srgbClr val="F1F0EC"/>
                    </a:solidFill>
                  </a:tcPr>
                </a:tc>
                <a:tc>
                  <a:txBody>
                    <a:bodyPr/>
                    <a:lstStyle/>
                    <a:p>
                      <a:r>
                        <a:rPr sz="1100" b="1">
                          <a:solidFill>
                            <a:srgbClr val="0B0B0B"/>
                          </a:solidFill>
                        </a:rPr>
                        <a:t>Qwen 2.5 7B</a:t>
                      </a:r>
                    </a:p>
                  </a:txBody>
                  <a:tcPr marL="54864" marR="54864" marT="27432" marB="27432">
                    <a:solidFill>
                      <a:srgbClr val="F1F0EC"/>
                    </a:solidFill>
                  </a:tcPr>
                </a:tc>
                <a:tc>
                  <a:txBody>
                    <a:bodyPr/>
                    <a:lstStyle/>
                    <a:p>
                      <a:r>
                        <a:rPr sz="1100" b="1">
                          <a:solidFill>
                            <a:srgbClr val="0B0B0B"/>
                          </a:solidFill>
                        </a:rPr>
                        <a:t>Qwen 2.5 32B</a:t>
                      </a:r>
                    </a:p>
                  </a:txBody>
                  <a:tcPr marL="54864" marR="54864" marT="27432" marB="27432">
                    <a:solidFill>
                      <a:srgbClr val="F1F0EC"/>
                    </a:solidFill>
                  </a:tcPr>
                </a:tc>
              </a:tr>
              <a:tr h="274320">
                <a:tc>
                  <a:txBody>
                    <a:bodyPr/>
                    <a:lstStyle/>
                    <a:p>
                      <a:r>
                        <a:rPr sz="1100" b="0">
                          <a:solidFill>
                            <a:srgbClr val="0B0B0B"/>
                          </a:solidFill>
                        </a:rPr>
                        <a:t>cspaper</a:t>
                      </a:r>
                    </a:p>
                  </a:txBody>
                  <a:tcPr marL="54864" marR="54864" marT="27432" marB="27432">
                    <a:solidFill>
                      <a:srgbClr val="FFFFFF"/>
                    </a:solidFill>
                  </a:tcPr>
                </a:tc>
                <a:tc>
                  <a:txBody>
                    <a:bodyPr/>
                    <a:lstStyle/>
                    <a:p>
                      <a:r>
                        <a:rPr sz="1100" b="0">
                          <a:solidFill>
                            <a:srgbClr val="0B0B0B"/>
                          </a:solidFill>
                        </a:rPr>
                        <a:t>0.149 → 0.125</a:t>
                      </a:r>
                    </a:p>
                  </a:txBody>
                  <a:tcPr marL="54864" marR="54864" marT="27432" marB="27432">
                    <a:solidFill>
                      <a:srgbClr val="FFFFFF"/>
                    </a:solidFill>
                  </a:tcPr>
                </a:tc>
                <a:tc>
                  <a:txBody>
                    <a:bodyPr/>
                    <a:lstStyle/>
                    <a:p>
                      <a:r>
                        <a:rPr sz="1100" b="0">
                          <a:solidFill>
                            <a:srgbClr val="0B0B0B"/>
                          </a:solidFill>
                        </a:rPr>
                        <a:t>0.134 → 0.153</a:t>
                      </a:r>
                    </a:p>
                  </a:txBody>
                  <a:tcPr marL="54864" marR="54864" marT="27432" marB="27432">
                    <a:solidFill>
                      <a:srgbClr val="FFFFFF"/>
                    </a:solidFill>
                  </a:tcPr>
                </a:tc>
                <a:tc>
                  <a:txBody>
                    <a:bodyPr/>
                    <a:lstStyle/>
                    <a:p>
                      <a:r>
                        <a:rPr sz="1100" b="0">
                          <a:solidFill>
                            <a:srgbClr val="0B0B0B"/>
                          </a:solidFill>
                        </a:rPr>
                        <a:t>0.162 → 0.224 (significant)</a:t>
                      </a:r>
                    </a:p>
                  </a:txBody>
                  <a:tcPr marL="54864" marR="54864" marT="27432" marB="27432">
                    <a:solidFill>
                      <a:srgbClr val="FFFFFF"/>
                    </a:solidFill>
                  </a:tcPr>
                </a:tc>
              </a:tr>
              <a:tr h="274320">
                <a:tc>
                  <a:txBody>
                    <a:bodyPr/>
                    <a:lstStyle/>
                    <a:p>
                      <a:r>
                        <a:rPr sz="1100" b="0">
                          <a:solidFill>
                            <a:srgbClr val="0B0B0B"/>
                          </a:solidFill>
                        </a:rPr>
                        <a:t>player</a:t>
                      </a:r>
                    </a:p>
                  </a:txBody>
                  <a:tcPr marL="54864" marR="54864" marT="27432" marB="27432">
                    <a:solidFill>
                      <a:srgbClr val="FFFFFF"/>
                    </a:solidFill>
                  </a:tcPr>
                </a:tc>
                <a:tc>
                  <a:txBody>
                    <a:bodyPr/>
                    <a:lstStyle/>
                    <a:p>
                      <a:r>
                        <a:rPr sz="1100" b="0">
                          <a:solidFill>
                            <a:srgbClr val="0B0B0B"/>
                          </a:solidFill>
                        </a:rPr>
                        <a:t>0.356 → 0.359</a:t>
                      </a:r>
                    </a:p>
                  </a:txBody>
                  <a:tcPr marL="54864" marR="54864" marT="27432" marB="27432">
                    <a:solidFill>
                      <a:srgbClr val="FFFFFF"/>
                    </a:solidFill>
                  </a:tcPr>
                </a:tc>
                <a:tc>
                  <a:txBody>
                    <a:bodyPr/>
                    <a:lstStyle/>
                    <a:p>
                      <a:r>
                        <a:rPr sz="1100" b="0">
                          <a:solidFill>
                            <a:srgbClr val="0B0B0B"/>
                          </a:solidFill>
                        </a:rPr>
                        <a:t>0.379 → 0.387</a:t>
                      </a:r>
                    </a:p>
                  </a:txBody>
                  <a:tcPr marL="54864" marR="54864" marT="27432" marB="27432">
                    <a:solidFill>
                      <a:srgbClr val="FFFFFF"/>
                    </a:solidFill>
                  </a:tcPr>
                </a:tc>
                <a:tc>
                  <a:txBody>
                    <a:bodyPr/>
                    <a:lstStyle/>
                    <a:p>
                      <a:r>
                        <a:rPr sz="1100" b="0">
                          <a:solidFill>
                            <a:srgbClr val="0B0B0B"/>
                          </a:solidFill>
                        </a:rPr>
                        <a:t>0.401 → 0.421 (significant)</a:t>
                      </a:r>
                    </a:p>
                  </a:txBody>
                  <a:tcPr marL="54864" marR="54864" marT="27432" marB="27432">
                    <a:solidFill>
                      <a:srgbClr val="FFFFFF"/>
                    </a:solidFill>
                  </a:tcPr>
                </a:tc>
              </a:tr>
              <a:tr h="274320">
                <a:tc>
                  <a:txBody>
                    <a:bodyPr/>
                    <a:lstStyle/>
                    <a:p>
                      <a:r>
                        <a:rPr sz="1100" b="0">
                          <a:solidFill>
                            <a:srgbClr val="0B0B0B"/>
                          </a:solidFill>
                        </a:rPr>
                        <a:t>art</a:t>
                      </a:r>
                    </a:p>
                  </a:txBody>
                  <a:tcPr marL="54864" marR="54864" marT="27432" marB="27432">
                    <a:solidFill>
                      <a:srgbClr val="FFFFFF"/>
                    </a:solidFill>
                  </a:tcPr>
                </a:tc>
                <a:tc>
                  <a:txBody>
                    <a:bodyPr/>
                    <a:lstStyle/>
                    <a:p>
                      <a:r>
                        <a:rPr sz="1100" b="0">
                          <a:solidFill>
                            <a:srgbClr val="0B0B0B"/>
                          </a:solidFill>
                        </a:rPr>
                        <a:t>0.209 → 0.203</a:t>
                      </a:r>
                    </a:p>
                  </a:txBody>
                  <a:tcPr marL="54864" marR="54864" marT="27432" marB="27432">
                    <a:solidFill>
                      <a:srgbClr val="FFFFFF"/>
                    </a:solidFill>
                  </a:tcPr>
                </a:tc>
                <a:tc>
                  <a:txBody>
                    <a:bodyPr/>
                    <a:lstStyle/>
                    <a:p>
                      <a:r>
                        <a:rPr sz="1100" b="0">
                          <a:solidFill>
                            <a:srgbClr val="0B0B0B"/>
                          </a:solidFill>
                        </a:rPr>
                        <a:t>0.270 → 0.256</a:t>
                      </a:r>
                    </a:p>
                  </a:txBody>
                  <a:tcPr marL="54864" marR="54864" marT="27432" marB="27432">
                    <a:solidFill>
                      <a:srgbClr val="FFFFFF"/>
                    </a:solidFill>
                  </a:tcPr>
                </a:tc>
                <a:tc>
                  <a:txBody>
                    <a:bodyPr/>
                    <a:lstStyle/>
                    <a:p>
                      <a:r>
                        <a:rPr sz="1100" b="0">
                          <a:solidFill>
                            <a:srgbClr val="0B0B0B"/>
                          </a:solidFill>
                        </a:rPr>
                        <a:t>0.293 → 0.289</a:t>
                      </a:r>
                    </a:p>
                  </a:txBody>
                  <a:tcPr marL="54864" marR="54864" marT="27432" marB="27432">
                    <a:solidFill>
                      <a:srgbClr val="FFFFFF"/>
                    </a:solidFill>
                  </a:tcPr>
                </a:tc>
              </a:tr>
            </a:tbl>
          </a:graphicData>
        </a:graphic>
      </p:graphicFrame>
      <p:sp>
        <p:nvSpPr>
          <p:cNvPr id="8" name="TextBox 7"/>
          <p:cNvSpPr txBox="1"/>
          <p:nvPr/>
        </p:nvSpPr>
        <p:spPr>
          <a:xfrm>
            <a:off x="8046720" y="4983480"/>
            <a:ext cx="3840480" cy="1463040"/>
          </a:xfrm>
          <a:prstGeom prst="rect">
            <a:avLst/>
          </a:prstGeom>
          <a:noFill/>
        </p:spPr>
        <p:txBody>
          <a:bodyPr wrap="square" anchor="t" lIns="45720" rIns="45720">
            <a:spAutoFit/>
          </a:bodyPr>
          <a:lstStyle/>
          <a:p>
            <a:pPr algn="l">
              <a:spcAft>
                <a:spcPts val="600"/>
              </a:spcAft>
            </a:pPr>
            <a:r>
              <a:rPr sz="1200" b="0">
                <a:solidFill>
                  <a:srgbClr val="0B0B0B"/>
                </a:solidFill>
              </a:rPr>
              <a:t>•  Extraction tokens are nearly the same for every model.</a:t>
            </a:r>
          </a:p>
          <a:p>
            <a:pPr algn="l">
              <a:spcAft>
                <a:spcPts val="600"/>
              </a:spcAft>
            </a:pPr>
            <a:r>
              <a:rPr sz="1200" b="0">
                <a:solidFill>
                  <a:srgbClr val="0B0B0B"/>
                </a:solidFill>
              </a:rPr>
              <a:t>•  med and legal with the other models: not yet re-run.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Where accuracy is lost: values on most corpora, structure on med</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Structure F2 (right rows and groups) and cell F1 (right values), with patching at 100% drift</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8_bottleneck.png"/>
          <p:cNvPicPr>
            <a:picLocks noChangeAspect="1"/>
          </p:cNvPicPr>
          <p:nvPr/>
        </p:nvPicPr>
        <p:blipFill>
          <a:blip r:embed="rId2"/>
          <a:stretch>
            <a:fillRect/>
          </a:stretch>
        </p:blipFill>
        <p:spPr>
          <a:xfrm>
            <a:off x="365760" y="1508760"/>
            <a:ext cx="7363326" cy="3291840"/>
          </a:xfrm>
          <a:prstGeom prst="rect">
            <a:avLst/>
          </a:prstGeom>
        </p:spPr>
      </p:pic>
      <p:sp>
        <p:nvSpPr>
          <p:cNvPr id="7" name="TextBox 6"/>
          <p:cNvSpPr txBox="1"/>
          <p:nvPr/>
        </p:nvSpPr>
        <p:spPr>
          <a:xfrm>
            <a:off x="7955279" y="1554480"/>
            <a:ext cx="3931920" cy="4846320"/>
          </a:xfrm>
          <a:prstGeom prst="rect">
            <a:avLst/>
          </a:prstGeom>
          <a:noFill/>
        </p:spPr>
        <p:txBody>
          <a:bodyPr wrap="square" anchor="t" lIns="45720" rIns="45720">
            <a:spAutoFit/>
          </a:bodyPr>
          <a:lstStyle/>
          <a:p>
            <a:pPr algn="l">
              <a:spcAft>
                <a:spcPts val="600"/>
              </a:spcAft>
            </a:pPr>
            <a:r>
              <a:rPr sz="1300" b="0">
                <a:solidFill>
                  <a:srgbClr val="0B0B0B"/>
                </a:solidFill>
              </a:rPr>
              <a:t>•  Med loses structure: list-valued join keys and exact comparison of free text return too few rows.</a:t>
            </a:r>
          </a:p>
          <a:p>
            <a:pPr algn="l">
              <a:spcAft>
                <a:spcPts val="600"/>
              </a:spcAft>
            </a:pPr>
            <a:r>
              <a:rPr sz="1300" b="0">
                <a:solidFill>
                  <a:srgbClr val="0B0B0B"/>
                </a:solidFill>
              </a:rPr>
              <a:t>•  The benchmark marks columns "never null" that its own gold data often leaves empty (19 of 59 on three corpora). Emptying exactly those cells would raise cspaper from 0.153 to 0.193.</a:t>
            </a:r>
          </a:p>
          <a:p>
            <a:pPr algn="l">
              <a:spcAft>
                <a:spcPts val="600"/>
              </a:spcAft>
            </a:pPr>
            <a:r>
              <a:rPr sz="1300" b="0">
                <a:solidFill>
                  <a:srgbClr val="0B0B0B"/>
                </a:solidFill>
              </a:rPr>
              <a:t>•  Telling the model it may leave fields empty does not recover this: it then also misses real values.</a:t>
            </a:r>
          </a:p>
        </p:txBody>
      </p:sp>
      <p:sp>
        <p:nvSpPr>
          <p:cNvPr id="8" name="TextBox 7"/>
          <p:cNvSpPr txBox="1"/>
          <p:nvPr/>
        </p:nvSpPr>
        <p:spPr>
          <a:xfrm>
            <a:off x="457200" y="4983480"/>
            <a:ext cx="7315200" cy="1371600"/>
          </a:xfrm>
          <a:prstGeom prst="rect">
            <a:avLst/>
          </a:prstGeom>
          <a:noFill/>
        </p:spPr>
        <p:txBody>
          <a:bodyPr wrap="square" anchor="t" lIns="45720" rIns="45720">
            <a:spAutoFit/>
          </a:bodyPr>
          <a:lstStyle/>
          <a:p>
            <a:pPr algn="l">
              <a:spcAft>
                <a:spcPts val="600"/>
              </a:spcAft>
            </a:pPr>
            <a:r>
              <a:rPr sz="1200" b="0">
                <a:solidFill>
                  <a:srgbClr val="0B0B0B"/>
                </a:solidFill>
              </a:rPr>
              <a:t>•  By query type: AVG 0.40, SUM 0.34, MIN over numbers 0.31, COUNT 0.23, MAX over numbers 0.19.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Many values are right in substance but wrong in form</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Agreement with gold, exact vs lenient (case, punctuation, list order ignored), ten columns with the largest gap</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rq8_form.png"/>
          <p:cNvPicPr>
            <a:picLocks noChangeAspect="1"/>
          </p:cNvPicPr>
          <p:nvPr/>
        </p:nvPicPr>
        <p:blipFill>
          <a:blip r:embed="rId2"/>
          <a:stretch>
            <a:fillRect/>
          </a:stretch>
        </p:blipFill>
        <p:spPr>
          <a:xfrm>
            <a:off x="365760" y="1508760"/>
            <a:ext cx="7595755" cy="3931920"/>
          </a:xfrm>
          <a:prstGeom prst="rect">
            <a:avLst/>
          </a:prstGeom>
        </p:spPr>
      </p:pic>
      <p:sp>
        <p:nvSpPr>
          <p:cNvPr id="7" name="TextBox 6"/>
          <p:cNvSpPr txBox="1"/>
          <p:nvPr/>
        </p:nvSpPr>
        <p:spPr>
          <a:xfrm>
            <a:off x="7955279" y="1554480"/>
            <a:ext cx="3931920" cy="4846320"/>
          </a:xfrm>
          <a:prstGeom prst="rect">
            <a:avLst/>
          </a:prstGeom>
          <a:noFill/>
        </p:spPr>
        <p:txBody>
          <a:bodyPr wrap="square" anchor="t" lIns="45720" rIns="45720">
            <a:spAutoFit/>
          </a:bodyPr>
          <a:lstStyle/>
          <a:p>
            <a:pPr algn="l">
              <a:spcAft>
                <a:spcPts val="600"/>
              </a:spcAft>
            </a:pPr>
            <a:r>
              <a:rPr sz="1300" b="0">
                <a:solidFill>
                  <a:srgbClr val="0B0B0B"/>
                </a:solidFill>
              </a:rPr>
              <a:t>•  Example: art field of work is right in substance 0.92 of the time, in exact form 0.13.</a:t>
            </a:r>
          </a:p>
          <a:p>
            <a:pPr algn="l">
              <a:spcAft>
                <a:spcPts val="600"/>
              </a:spcAft>
            </a:pPr>
            <a:r>
              <a:rPr sz="1300" b="0">
                <a:solidFill>
                  <a:srgbClr val="0B0B0B"/>
                </a:solidFill>
              </a:rPr>
              <a:t>•  Mapping values to the forms the workload uses gains nothing deterministically, and +0.003 on art with the model doing the mapping: the mismatches are in labels no query names.</a:t>
            </a:r>
          </a:p>
          <a:p>
            <a:pPr algn="l">
              <a:spcAft>
                <a:spcPts val="600"/>
              </a:spcAft>
            </a:pPr>
            <a:r>
              <a:rPr sz="1300" b="0">
                <a:solidFill>
                  <a:srgbClr val="0B0B0B"/>
                </a:solidFill>
              </a:rPr>
              <a:t>•  Dates: normalization kept only the year of "2010/7/15". Keeping dates as written makes art's death dates right 0.88 instead of 0.31 of the time, but raises the art score only +0.006 (one query gains).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Which components matter: one component turned off at a time</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Score change against the full system at 100% drift (filled = significant), and extraction tokens</a:t>
            </a:r>
          </a:p>
        </p:txBody>
      </p:sp>
      <p:sp>
        <p:nvSpPr>
          <p:cNvPr id="4" name="Rounded Rectangle 3"/>
          <p:cNvSpPr/>
          <p:nvPr/>
        </p:nvSpPr>
        <p:spPr>
          <a:xfrm>
            <a:off x="10287000" y="347472"/>
            <a:ext cx="1600200" cy="384048"/>
          </a:xfrm>
          <a:prstGeom prst="roundRect">
            <a:avLst/>
          </a:prstGeom>
          <a:solidFill>
            <a:srgbClr val="C98300"/>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Partly 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ablations.png"/>
          <p:cNvPicPr>
            <a:picLocks noChangeAspect="1"/>
          </p:cNvPicPr>
          <p:nvPr/>
        </p:nvPicPr>
        <p:blipFill>
          <a:blip r:embed="rId2"/>
          <a:stretch>
            <a:fillRect/>
          </a:stretch>
        </p:blipFill>
        <p:spPr>
          <a:xfrm>
            <a:off x="274320" y="1463040"/>
            <a:ext cx="9127671" cy="3931920"/>
          </a:xfrm>
          <a:prstGeom prst="rect">
            <a:avLst/>
          </a:prstGeom>
        </p:spPr>
      </p:pic>
      <p:sp>
        <p:nvSpPr>
          <p:cNvPr id="7" name="TextBox 6"/>
          <p:cNvSpPr txBox="1"/>
          <p:nvPr/>
        </p:nvSpPr>
        <p:spPr>
          <a:xfrm>
            <a:off x="457200" y="5440680"/>
            <a:ext cx="11247120" cy="914400"/>
          </a:xfrm>
          <a:prstGeom prst="rect">
            <a:avLst/>
          </a:prstGeom>
          <a:noFill/>
        </p:spPr>
        <p:txBody>
          <a:bodyPr wrap="square" anchor="t" lIns="45720" rIns="45720">
            <a:spAutoFit/>
          </a:bodyPr>
          <a:lstStyle/>
          <a:p>
            <a:pPr algn="l">
              <a:spcAft>
                <a:spcPts val="600"/>
              </a:spcAft>
            </a:pPr>
            <a:r>
              <a:rPr sz="1300" b="0">
                <a:solidFill>
                  <a:srgbClr val="0B0B0B"/>
                </a:solidFill>
              </a:rPr>
              <a:t>•  Accuracy: field descriptions (up to −0.136 without), value normalization (−0.131 on player), mapping free-text values to the workload's forms (−0.066 on art). Cost: reusing extracted columns (without it 4.9–16.9× the tokens) and limiting extraction to the documents a query selects (up to 1.46×).</a:t>
            </a:r>
          </a:p>
        </p:txBody>
      </p:sp>
      <p:sp>
        <p:nvSpPr>
          <p:cNvPr id="8" name="TextBox 7"/>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Three corpora; med and legal running. Every one of these runs was replayed exactly from its logged model responses.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What the components do, column by column</a:t>
            </a:r>
          </a:p>
        </p:txBody>
      </p:sp>
      <p:sp>
        <p:nvSpPr>
          <p:cNvPr id="3" name="Rounded Rectangle 2"/>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4" name="Connector 3"/>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457200" y="1600200"/>
          <a:ext cx="11247120" cy="3886200"/>
        </p:xfrm>
        <a:graphic>
          <a:graphicData uri="http://schemas.openxmlformats.org/drawingml/2006/table">
            <a:tbl>
              <a:tblPr firstRow="1" bandRow="1">
                <a:tableStyleId>{5C22544A-7EE6-4342-B048-85BDC9FD1C3A}</a:tableStyleId>
              </a:tblPr>
              <a:tblGrid>
                <a:gridCol w="3474720"/>
                <a:gridCol w="7772400"/>
              </a:tblGrid>
              <a:tr h="777240">
                <a:tc>
                  <a:txBody>
                    <a:bodyPr/>
                    <a:lstStyle/>
                    <a:p>
                      <a:r>
                        <a:rPr sz="1300" b="1">
                          <a:solidFill>
                            <a:srgbClr val="0B0B0B"/>
                          </a:solidFill>
                        </a:rPr>
                        <a:t>Component turned off</a:t>
                      </a:r>
                    </a:p>
                  </a:txBody>
                  <a:tcPr marL="54864" marR="54864" marT="27432" marB="27432">
                    <a:solidFill>
                      <a:srgbClr val="F1F0EC"/>
                    </a:solidFill>
                  </a:tcPr>
                </a:tc>
                <a:tc>
                  <a:txBody>
                    <a:bodyPr/>
                    <a:lstStyle/>
                    <a:p>
                      <a:r>
                        <a:rPr sz="1300" b="1">
                          <a:solidFill>
                            <a:srgbClr val="0B0B0B"/>
                          </a:solidFill>
                        </a:rPr>
                        <a:t>What changes in the extracted values</a:t>
                      </a:r>
                    </a:p>
                  </a:txBody>
                  <a:tcPr marL="54864" marR="54864" marT="27432" marB="27432">
                    <a:solidFill>
                      <a:srgbClr val="F1F0EC"/>
                    </a:solidFill>
                  </a:tcPr>
                </a:tc>
              </a:tr>
              <a:tr h="777240">
                <a:tc>
                  <a:txBody>
                    <a:bodyPr/>
                    <a:lstStyle/>
                    <a:p>
                      <a:r>
                        <a:rPr sz="1300" b="0">
                          <a:solidFill>
                            <a:srgbClr val="0B0B0B"/>
                          </a:solidFill>
                        </a:rPr>
                        <a:t>Field descriptions</a:t>
                      </a:r>
                    </a:p>
                  </a:txBody>
                  <a:tcPr marL="54864" marR="54864" marT="27432" marB="27432">
                    <a:solidFill>
                      <a:srgbClr val="FFFFFF"/>
                    </a:solidFill>
                  </a:tcPr>
                </a:tc>
                <a:tc>
                  <a:txBody>
                    <a:bodyPr/>
                    <a:lstStyle/>
                    <a:p>
                      <a:r>
                        <a:rPr sz="1300" b="0">
                          <a:solidFill>
                            <a:srgbClr val="0B0B0B"/>
                          </a:solidFill>
                        </a:rPr>
                        <a:t>Counts left empty and dates written in another form: player FIBA World Cup appearances right 0.01 instead of 0.86; art awards 0.06 instead of 0.74</a:t>
                      </a:r>
                    </a:p>
                  </a:txBody>
                  <a:tcPr marL="54864" marR="54864" marT="27432" marB="27432">
                    <a:solidFill>
                      <a:srgbClr val="FFFFFF"/>
                    </a:solidFill>
                  </a:tcPr>
                </a:tc>
              </a:tr>
              <a:tr h="777240">
                <a:tc>
                  <a:txBody>
                    <a:bodyPr/>
                    <a:lstStyle/>
                    <a:p>
                      <a:r>
                        <a:rPr sz="1300" b="0">
                          <a:solidFill>
                            <a:srgbClr val="0B0B0B"/>
                          </a:solidFill>
                        </a:rPr>
                        <a:t>Value normalization when values are stored</a:t>
                      </a:r>
                    </a:p>
                  </a:txBody>
                  <a:tcPr marL="54864" marR="54864" marT="27432" marB="27432">
                    <a:solidFill>
                      <a:srgbClr val="FFFFFF"/>
                    </a:solidFill>
                  </a:tcPr>
                </a:tc>
                <a:tc>
                  <a:txBody>
                    <a:bodyPr/>
                    <a:lstStyle/>
                    <a:p>
                      <a:r>
                        <a:rPr sz="1300" b="0">
                          <a:solidFill>
                            <a:srgbClr val="0B0B0B"/>
                          </a:solidFill>
                        </a:rPr>
                        <a:t>Counts lose their "0 if none" value (player FIBA World Cup 0.08 instead of 0.86); but dates come out better (art death date 0.88 instead of 0.31) — two large effects that cancel on art</a:t>
                      </a:r>
                    </a:p>
                  </a:txBody>
                  <a:tcPr marL="54864" marR="54864" marT="27432" marB="27432">
                    <a:solidFill>
                      <a:srgbClr val="FFFFFF"/>
                    </a:solidFill>
                  </a:tcPr>
                </a:tc>
              </a:tr>
              <a:tr h="777240">
                <a:tc>
                  <a:txBody>
                    <a:bodyPr/>
                    <a:lstStyle/>
                    <a:p>
                      <a:r>
                        <a:rPr sz="1300" b="0">
                          <a:solidFill>
                            <a:srgbClr val="0B0B0B"/>
                          </a:solidFill>
                        </a:rPr>
                        <a:t>Limiting extraction to the query's documents / extracting other workload columns together</a:t>
                      </a:r>
                    </a:p>
                  </a:txBody>
                  <a:tcPr marL="54864" marR="54864" marT="27432" marB="27432">
                    <a:solidFill>
                      <a:srgbClr val="FFFFFF"/>
                    </a:solidFill>
                  </a:tcPr>
                </a:tc>
                <a:tc>
                  <a:txBody>
                    <a:bodyPr/>
                    <a:lstStyle/>
                    <a:p>
                      <a:r>
                        <a:rPr sz="1300" b="0">
                          <a:solidFill>
                            <a:srgbClr val="0B0B0B"/>
                          </a:solidFill>
                        </a:rPr>
                        <a:t>On art one column (nationality, read one column per prompt) gains: +0.011, not an effect of scope itself</a:t>
                      </a:r>
                    </a:p>
                  </a:txBody>
                  <a:tcPr marL="54864" marR="54864" marT="27432" marB="27432">
                    <a:solidFill>
                      <a:srgbClr val="FFFFFF"/>
                    </a:solidFill>
                  </a:tcPr>
                </a:tc>
              </a:tr>
              <a:tr h="777240">
                <a:tc>
                  <a:txBody>
                    <a:bodyPr/>
                    <a:lstStyle/>
                    <a:p>
                      <a:r>
                        <a:rPr sz="1300" b="0">
                          <a:solidFill>
                            <a:srgbClr val="0B0B0B"/>
                          </a:solidFill>
                        </a:rPr>
                        <a:t>The workload usage phrase in the prompt</a:t>
                      </a:r>
                    </a:p>
                  </a:txBody>
                  <a:tcPr marL="54864" marR="54864" marT="27432" marB="27432">
                    <a:solidFill>
                      <a:srgbClr val="FFFFFF"/>
                    </a:solidFill>
                  </a:tcPr>
                </a:tc>
                <a:tc>
                  <a:txBody>
                    <a:bodyPr/>
                    <a:lstStyle/>
                    <a:p>
                      <a:r>
                        <a:rPr sz="1300" b="0">
                          <a:solidFill>
                            <a:srgbClr val="0B0B0B"/>
                          </a:solidFill>
                        </a:rPr>
                        <a:t>Changes values without moving the score: art birth city right on 205 more documents without it</a:t>
                      </a:r>
                    </a:p>
                  </a:txBody>
                  <a:tcPr marL="54864" marR="54864" marT="27432" marB="27432">
                    <a:solidFill>
                      <a:srgbClr val="FFFFFF"/>
                    </a:solidFill>
                  </a:tcPr>
                </a:tc>
              </a:tr>
            </a:tbl>
          </a:graphicData>
        </a:graphic>
      </p:graphicFrame>
      <p:sp>
        <p:nvSpPr>
          <p:cNvPr id="6" name="TextBox 5"/>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Cell-level comparison against the gold data, McNemar test per column with multiple-comparison correction.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What it costs: patching is most of the cost under drift, still cents per corpus</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Build + all extractions per corpus; Qwen 2.5 7B at OpenRouter list price ($0.10 / $0.20 per million input / output tokens)</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graphicFrame>
        <p:nvGraphicFramePr>
          <p:cNvPr id="6" name="Chart 5"/>
          <p:cNvGraphicFramePr>
            <a:graphicFrameLocks noGrp="1"/>
          </p:cNvGraphicFramePr>
          <p:nvPr/>
        </p:nvGraphicFramePr>
        <p:xfrm>
          <a:off x="365760" y="1600200"/>
          <a:ext cx="6400800" cy="3931920"/>
        </p:xfrm>
        <a:graphic>
          <a:graphicData uri="http://schemas.openxmlformats.org/drawingml/2006/chart">
            <c:chart xmlns:c="http://schemas.openxmlformats.org/drawingml/2006/chart" r:id="rId2"/>
          </a:graphicData>
        </a:graphic>
      </p:graphicFrame>
      <p:sp>
        <p:nvSpPr>
          <p:cNvPr id="7" name="TextBox 6"/>
          <p:cNvSpPr txBox="1"/>
          <p:nvPr/>
        </p:nvSpPr>
        <p:spPr>
          <a:xfrm>
            <a:off x="7040880" y="1600200"/>
            <a:ext cx="4846320" cy="4846320"/>
          </a:xfrm>
          <a:prstGeom prst="rect">
            <a:avLst/>
          </a:prstGeom>
          <a:noFill/>
        </p:spPr>
        <p:txBody>
          <a:bodyPr wrap="square" anchor="t" lIns="45720" rIns="45720">
            <a:spAutoFit/>
          </a:bodyPr>
          <a:lstStyle/>
          <a:p>
            <a:pPr algn="l">
              <a:spcAft>
                <a:spcPts val="600"/>
              </a:spcAft>
            </a:pPr>
            <a:r>
              <a:rPr sz="1300" b="0">
                <a:solidFill>
                  <a:srgbClr val="0B0B0B"/>
                </a:solidFill>
              </a:rPr>
              <a:t>•  At 100% drift extractions on demand are 71–85% of all tokens.</a:t>
            </a:r>
          </a:p>
          <a:p>
            <a:pPr algn="l">
              <a:spcAft>
                <a:spcPts val="600"/>
              </a:spcAft>
            </a:pPr>
            <a:r>
              <a:rPr sz="1300" b="0">
                <a:solidFill>
                  <a:srgbClr val="0B0B0B"/>
                </a:solidFill>
              </a:rPr>
              <a:t>•  Only 6–14 queries per corpus need one (the first to use each new column), at 0.2–3.9M tokens ($0.02–0.33) each; every later query reuses it at no extra cost.</a:t>
            </a:r>
          </a:p>
          <a:p>
            <a:pPr algn="l">
              <a:spcAft>
                <a:spcPts val="600"/>
              </a:spcAft>
            </a:pPr>
            <a:r>
              <a:rPr sz="1300" b="0">
                <a:solidFill>
                  <a:srgbClr val="0B0B0B"/>
                </a:solidFill>
              </a:rPr>
              <a:t>•  Without reuse, on-demand extraction costs 5–17× more.</a:t>
            </a:r>
          </a:p>
          <a:p>
            <a:pPr algn="l">
              <a:spcAft>
                <a:spcPts val="600"/>
              </a:spcAft>
            </a:pPr>
            <a:r>
              <a:rPr sz="1300" b="0">
                <a:solidFill>
                  <a:srgbClr val="0B0B0B"/>
                </a:solidFill>
              </a:rPr>
              <a:t>•  DocETL on the same queries: $2.13 (cspaper) to $33.52 (legal).</a:t>
            </a:r>
          </a:p>
          <a:p>
            <a:pPr algn="l">
              <a:spcAft>
                <a:spcPts val="600"/>
              </a:spcAft>
            </a:pPr>
            <a:r>
              <a:rPr sz="1300" b="0">
                <a:solidFill>
                  <a:srgbClr val="0B0B0B"/>
                </a:solidFill>
              </a:rPr>
              <a:t>•  Other models at list price: Llama 3.1 8B about half; Qwen 2.5 32B is not listed (similar models: about the same to 7× more).</a:t>
            </a:r>
          </a:p>
        </p:txBody>
      </p:sp>
      <p:sp>
        <p:nvSpPr>
          <p:cNvPr id="8" name="TextBox 7"/>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Prices fetched 7 October 2026; local serving cost not included. Tokens are measured; builds at partial drift levels estimated within about 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Compared with DocETL: more accurate on every corpus at 5–25× fewer tokens</a:t>
            </a:r>
          </a:p>
        </p:txBody>
      </p:sp>
      <p:sp>
        <p:nvSpPr>
          <p:cNvPr id="3" name="TextBox 2"/>
          <p:cNvSpPr txBox="1"/>
          <p:nvPr/>
        </p:nvSpPr>
        <p:spPr>
          <a:xfrm>
            <a:off x="457200" y="987552"/>
            <a:ext cx="11247120" cy="384048"/>
          </a:xfrm>
          <a:prstGeom prst="rect">
            <a:avLst/>
          </a:prstGeom>
          <a:noFill/>
        </p:spPr>
        <p:txBody>
          <a:bodyPr wrap="square" anchor="t" lIns="45720" rIns="45720">
            <a:spAutoFit/>
          </a:bodyPr>
          <a:lstStyle/>
          <a:p>
            <a:pPr algn="l">
              <a:spcAft>
                <a:spcPts val="600"/>
              </a:spcAft>
            </a:pPr>
            <a:r>
              <a:rPr sz="1300" b="0">
                <a:solidFill>
                  <a:srgbClr val="52514E"/>
                </a:solidFill>
              </a:rPr>
              <a:t>Same model and queries at 100% drift; DocETL extracts per query and does not reuse extractions</a:t>
            </a:r>
          </a:p>
        </p:txBody>
      </p:sp>
      <p:sp>
        <p:nvSpPr>
          <p:cNvPr id="4" name="Rounded Rectangle 3"/>
          <p:cNvSpPr/>
          <p:nvPr/>
        </p:nvSpPr>
        <p:spPr>
          <a:xfrm>
            <a:off x="10287000" y="347472"/>
            <a:ext cx="1600200" cy="384048"/>
          </a:xfrm>
          <a:prstGeom prst="round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Conclusive</a:t>
            </a:r>
          </a:p>
        </p:txBody>
      </p:sp>
      <p:cxnSp>
        <p:nvCxnSpPr>
          <p:cNvPr id="5" name="Connector 4"/>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pic>
        <p:nvPicPr>
          <p:cNvPr id="6" name="Picture 5" descr="docetl.png"/>
          <p:cNvPicPr>
            <a:picLocks noChangeAspect="1"/>
          </p:cNvPicPr>
          <p:nvPr/>
        </p:nvPicPr>
        <p:blipFill>
          <a:blip r:embed="rId2"/>
          <a:stretch>
            <a:fillRect/>
          </a:stretch>
        </p:blipFill>
        <p:spPr>
          <a:xfrm>
            <a:off x="365760" y="1508760"/>
            <a:ext cx="11430000" cy="3692769"/>
          </a:xfrm>
          <a:prstGeom prst="rect">
            <a:avLst/>
          </a:prstGeom>
        </p:spPr>
      </p:pic>
      <p:sp>
        <p:nvSpPr>
          <p:cNvPr id="7" name="TextBox 6"/>
          <p:cNvSpPr txBox="1"/>
          <p:nvPr/>
        </p:nvSpPr>
        <p:spPr>
          <a:xfrm>
            <a:off x="457200" y="5349240"/>
            <a:ext cx="11247120" cy="1005840"/>
          </a:xfrm>
          <a:prstGeom prst="rect">
            <a:avLst/>
          </a:prstGeom>
          <a:noFill/>
        </p:spPr>
        <p:txBody>
          <a:bodyPr wrap="square" anchor="t" lIns="45720" rIns="45720">
            <a:spAutoFit/>
          </a:bodyPr>
          <a:lstStyle/>
          <a:p>
            <a:pPr algn="l">
              <a:spcAft>
                <a:spcPts val="600"/>
              </a:spcAft>
            </a:pPr>
            <a:r>
              <a:rPr sz="1300" b="0">
                <a:solidFill>
                  <a:srgbClr val="0B0B0B"/>
                </a:solidFill>
              </a:rPr>
              <a:t>•  Significant on every corpus (e.g. med +0.044, CI 0.012–0.078; player +0.306). DocETL collapses on queries with joins (player: 0.125 / 0.034 / 0.008 for 0 / 1 / 2+ joins), likely because separately extracted join keys do not match (not verified value by value).</a:t>
            </a:r>
          </a:p>
        </p:txBody>
      </p:sp>
      <p:sp>
        <p:nvSpPr>
          <p:cNvPr id="8" name="TextBox 7"/>
          <p:cNvSpPr txBox="1"/>
          <p:nvPr/>
        </p:nvSpPr>
        <p:spPr>
          <a:xfrm>
            <a:off x="457200" y="6355080"/>
            <a:ext cx="11247120" cy="457200"/>
          </a:xfrm>
          <a:prstGeom prst="rect">
            <a:avLst/>
          </a:prstGeom>
          <a:noFill/>
        </p:spPr>
        <p:txBody>
          <a:bodyPr wrap="square" anchor="t" lIns="45720" rIns="45720">
            <a:spAutoFit/>
          </a:bodyPr>
          <a:lstStyle/>
          <a:p>
            <a:pPr algn="l">
              <a:spcAft>
                <a:spcPts val="600"/>
              </a:spcAft>
            </a:pPr>
            <a:r>
              <a:rPr sz="1000" b="0">
                <a:solidFill>
                  <a:srgbClr val="898781"/>
                </a:solidFill>
              </a:rPr>
              <a:t>legal: 21 of 27 queries (DocETL not yet run on 6 regenerated queries).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What is not conclusive yet</a:t>
            </a:r>
          </a:p>
        </p:txBody>
      </p:sp>
      <p:sp>
        <p:nvSpPr>
          <p:cNvPr id="3" name="Rounded Rectangle 2"/>
          <p:cNvSpPr/>
          <p:nvPr/>
        </p:nvSpPr>
        <p:spPr>
          <a:xfrm>
            <a:off x="10287000" y="347472"/>
            <a:ext cx="1600200" cy="384048"/>
          </a:xfrm>
          <a:prstGeom prst="roundRect">
            <a:avLst/>
          </a:prstGeom>
          <a:solidFill>
            <a:srgbClr val="8A8A8A"/>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Not conclusive</a:t>
            </a:r>
          </a:p>
        </p:txBody>
      </p:sp>
      <p:cxnSp>
        <p:nvCxnSpPr>
          <p:cNvPr id="4" name="Connector 3"/>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554480"/>
            <a:ext cx="11247120" cy="4846320"/>
          </a:xfrm>
          <a:prstGeom prst="rect">
            <a:avLst/>
          </a:prstGeom>
          <a:noFill/>
        </p:spPr>
        <p:txBody>
          <a:bodyPr wrap="square" anchor="t" lIns="45720" rIns="45720">
            <a:spAutoFit/>
          </a:bodyPr>
          <a:lstStyle/>
          <a:p>
            <a:pPr algn="l">
              <a:spcAft>
                <a:spcPts val="600"/>
              </a:spcAft>
            </a:pPr>
            <a:r>
              <a:rPr sz="1500" b="0">
                <a:solidFill>
                  <a:srgbClr val="0B0B0B"/>
                </a:solidFill>
              </a:rPr>
              <a:t>•  Drift rises with the 7B model (cspaper +0.019, player +0.008) are below what the test sets can detect; only the 32B model's rises are significant.</a:t>
            </a:r>
          </a:p>
          <a:p>
            <a:pPr algn="l">
              <a:spcAft>
                <a:spcPts val="600"/>
              </a:spcAft>
            </a:pPr>
            <a:r>
              <a:rPr sz="1500" b="0">
                <a:solidFill>
                  <a:srgbClr val="0B0B0B"/>
                </a:solidFill>
              </a:rPr>
              <a:t>•  Budget policies have no true upper bound: an extraction's cost and value depend on order, so the offline plan is a heuristic, not an optimum. Value-per-token policies are planned but not built.</a:t>
            </a:r>
          </a:p>
          <a:p>
            <a:pPr algn="l">
              <a:spcAft>
                <a:spcPts val="600"/>
              </a:spcAft>
            </a:pPr>
            <a:r>
              <a:rPr sz="1500" b="0">
                <a:solidFill>
                  <a:srgbClr val="0B0B0B"/>
                </a:solidFill>
              </a:rPr>
              <a:t>•  Corpus effect: descriptive columns, often-empty gold values and list values occur together in med and legal; five corpora cannot separate them.</a:t>
            </a:r>
          </a:p>
          <a:p>
            <a:pPr algn="l">
              <a:spcAft>
                <a:spcPts val="600"/>
              </a:spcAft>
            </a:pPr>
            <a:r>
              <a:rPr sz="1500" b="0">
                <a:solidFill>
                  <a:srgbClr val="0B0B0B"/>
                </a:solidFill>
              </a:rPr>
              <a:t>•  DocETL's collapse on joins is attributed to mismatched join keys without a value-by-value check.</a:t>
            </a:r>
          </a:p>
          <a:p>
            <a:pPr algn="l">
              <a:spcAft>
                <a:spcPts val="600"/>
              </a:spcAft>
            </a:pPr>
            <a:r>
              <a:rPr sz="1500" b="0">
                <a:solidFill>
                  <a:srgbClr val="0B0B0B"/>
                </a:solidFill>
              </a:rPr>
              <a:t>•  The planner's failure has a diagnosed cause but no tested fix.</a:t>
            </a:r>
          </a:p>
          <a:p>
            <a:pPr algn="l">
              <a:spcAft>
                <a:spcPts val="600"/>
              </a:spcAft>
            </a:pPr>
            <a:r>
              <a:rPr sz="1500" b="0">
                <a:solidFill>
                  <a:srgbClr val="0B0B0B"/>
                </a:solidFill>
              </a:rPr>
              <a:t>•  The train/test split of the workload was never redrawn (only shrunk); generality beyond five corpora and three models is untested.</a:t>
            </a:r>
          </a:p>
          <a:p>
            <a:pPr algn="l">
              <a:spcAft>
                <a:spcPts val="600"/>
              </a:spcAft>
            </a:pPr>
            <a:r>
              <a:rPr sz="1500" b="0">
                <a:solidFill>
                  <a:srgbClr val="0B0B0B"/>
                </a:solidFill>
              </a:rPr>
              <a:t>•  No comparison yet with extracting every schema column up front, the alternative that would show whether workload-aware building saves cost.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Status and next steps</a:t>
            </a:r>
          </a:p>
        </p:txBody>
      </p:sp>
      <p:sp>
        <p:nvSpPr>
          <p:cNvPr id="3" name="Rounded Rectangle 2"/>
          <p:cNvSpPr/>
          <p:nvPr/>
        </p:nvSpPr>
        <p:spPr>
          <a:xfrm>
            <a:off x="10287000" y="347472"/>
            <a:ext cx="1600200" cy="384048"/>
          </a:xfrm>
          <a:prstGeom prst="round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lIns="27432" rIns="27432"/>
          <a:lstStyle/>
          <a:p>
            <a:pPr algn="ctr"/>
            <a:r>
              <a:rPr sz="1200" b="1">
                <a:solidFill>
                  <a:srgbClr val="FFFFFF"/>
                </a:solidFill>
              </a:rPr>
              <a:t>Running</a:t>
            </a:r>
          </a:p>
        </p:txBody>
      </p:sp>
      <p:cxnSp>
        <p:nvCxnSpPr>
          <p:cNvPr id="4" name="Connector 3"/>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554480"/>
            <a:ext cx="5486400" cy="4846320"/>
          </a:xfrm>
          <a:prstGeom prst="rect">
            <a:avLst/>
          </a:prstGeom>
          <a:noFill/>
        </p:spPr>
        <p:txBody>
          <a:bodyPr wrap="square" anchor="t" lIns="45720" rIns="45720">
            <a:spAutoFit/>
          </a:bodyPr>
          <a:lstStyle/>
          <a:p>
            <a:pPr algn="l">
              <a:spcAft>
                <a:spcPts val="600"/>
              </a:spcAft>
            </a:pPr>
            <a:r>
              <a:rPr sz="1700" b="1">
                <a:solidFill>
                  <a:srgbClr val="0B0B0B"/>
                </a:solidFill>
              </a:rPr>
              <a:t>Running now</a:t>
            </a:r>
          </a:p>
          <a:p>
            <a:pPr algn="l">
              <a:spcAft>
                <a:spcPts val="600"/>
              </a:spcAft>
            </a:pPr>
            <a:r>
              <a:rPr sz="1400" b="0">
                <a:solidFill>
                  <a:srgbClr val="0B0B0B"/>
                </a:solidFill>
              </a:rPr>
              <a:t>•  med and legal: budget policies (cap, pacing, hindsight, offline plan) and component tests; finish tonight.</a:t>
            </a:r>
          </a:p>
          <a:p>
            <a:pPr algn="l">
              <a:spcAft>
                <a:spcPts val="600"/>
              </a:spcAft>
            </a:pPr>
            <a:r>
              <a:rPr sz="1700" b="1">
                <a:solidFill>
                  <a:srgbClr val="0B0B0B"/>
                </a:solidFill>
              </a:rPr>
              <a:t>Next (new compute job)</a:t>
            </a:r>
          </a:p>
          <a:p>
            <a:pPr algn="l">
              <a:spcAft>
                <a:spcPts val="600"/>
              </a:spcAft>
            </a:pPr>
            <a:r>
              <a:rPr sz="1400" b="0">
                <a:solidFill>
                  <a:srgbClr val="0B0B0B"/>
                </a:solidFill>
              </a:rPr>
              <a:t>•  med and legal with the other models and with smaller build workloads.</a:t>
            </a:r>
          </a:p>
          <a:p>
            <a:pPr algn="l">
              <a:spcAft>
                <a:spcPts val="600"/>
              </a:spcAft>
            </a:pPr>
            <a:r>
              <a:rPr sz="1400" b="0">
                <a:solidFill>
                  <a:srgbClr val="0B0B0B"/>
                </a:solidFill>
              </a:rPr>
              <a:t>•  DocETL on legal's 6 regenerated queries.</a:t>
            </a:r>
          </a:p>
          <a:p>
            <a:pPr algn="l">
              <a:spcAft>
                <a:spcPts val="600"/>
              </a:spcAft>
            </a:pPr>
            <a:r>
              <a:rPr sz="1400" b="0">
                <a:solidFill>
                  <a:srgbClr val="0B0B0B"/>
                </a:solidFill>
              </a:rPr>
              <a:t>•  Baseline that extracts every schema column up front.</a:t>
            </a:r>
          </a:p>
        </p:txBody>
      </p:sp>
      <p:sp>
        <p:nvSpPr>
          <p:cNvPr id="6" name="TextBox 5"/>
          <p:cNvSpPr txBox="1"/>
          <p:nvPr/>
        </p:nvSpPr>
        <p:spPr>
          <a:xfrm>
            <a:off x="6309360" y="1554480"/>
            <a:ext cx="5486400" cy="4846320"/>
          </a:xfrm>
          <a:prstGeom prst="rect">
            <a:avLst/>
          </a:prstGeom>
          <a:noFill/>
        </p:spPr>
        <p:txBody>
          <a:bodyPr wrap="square" anchor="t" lIns="45720" rIns="45720">
            <a:spAutoFit/>
          </a:bodyPr>
          <a:lstStyle/>
          <a:p>
            <a:pPr algn="l">
              <a:spcAft>
                <a:spcPts val="600"/>
              </a:spcAft>
            </a:pPr>
            <a:r>
              <a:rPr sz="1700" b="1">
                <a:solidFill>
                  <a:srgbClr val="0B0B0B"/>
                </a:solidFill>
              </a:rPr>
              <a:t>Open research items</a:t>
            </a:r>
          </a:p>
          <a:p>
            <a:pPr algn="l">
              <a:spcAft>
                <a:spcPts val="600"/>
              </a:spcAft>
            </a:pPr>
            <a:r>
              <a:rPr sz="1400" b="0">
                <a:solidFill>
                  <a:srgbClr val="0B0B0B"/>
                </a:solidFill>
              </a:rPr>
              <a:t>•  An upper bound for budget policies (iteratively re-priced offline plan).</a:t>
            </a:r>
          </a:p>
          <a:p>
            <a:pPr algn="l">
              <a:spcAft>
                <a:spcPts val="600"/>
              </a:spcAft>
            </a:pPr>
            <a:r>
              <a:rPr sz="1400" b="0">
                <a:solidFill>
                  <a:srgbClr val="0B0B0B"/>
                </a:solidFill>
              </a:rPr>
              <a:t>•  Value-per-token budget policies.</a:t>
            </a:r>
          </a:p>
          <a:p>
            <a:pPr algn="l">
              <a:spcAft>
                <a:spcPts val="600"/>
              </a:spcAft>
            </a:pPr>
            <a:r>
              <a:rPr sz="1400" b="0">
                <a:solidFill>
                  <a:srgbClr val="0B0B0B"/>
                </a:solidFill>
              </a:rPr>
              <a:t>•  A planner objective that can recognise a better shared extraction.</a:t>
            </a:r>
          </a:p>
          <a:p>
            <a:pPr algn="l">
              <a:spcAft>
                <a:spcPts val="600"/>
              </a:spcAft>
            </a:pPr>
            <a:r>
              <a:rPr sz="1400" b="0">
                <a:solidFill>
                  <a:srgbClr val="0B0B0B"/>
                </a:solidFill>
              </a:rPr>
              <a:t>•  Redrawn train/test splits.</a:t>
            </a:r>
          </a:p>
          <a:p>
            <a:pPr algn="l">
              <a:spcAft>
                <a:spcPts val="600"/>
              </a:spcAft>
            </a:pPr>
            <a:r>
              <a:rPr sz="1400" b="0">
                <a:solidFill>
                  <a:srgbClr val="0B0B0B"/>
                </a:solidFill>
              </a:rPr>
              <a:t>•  Turn on date-preserving normalization by default (small, safe accuracy gain).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457200" y="201168"/>
            <a:ext cx="9692640" cy="777240"/>
          </a:xfrm>
          <a:prstGeom prst="rect">
            <a:avLst/>
          </a:prstGeom>
          <a:noFill/>
        </p:spPr>
        <p:txBody>
          <a:bodyPr wrap="square" anchor="ctr" lIns="45720" rIns="45720">
            <a:spAutoFit/>
          </a:bodyPr>
          <a:lstStyle/>
          <a:p>
            <a:pPr algn="l">
              <a:spcAft>
                <a:spcPts val="600"/>
              </a:spcAft>
            </a:pPr>
            <a:r>
              <a:rPr sz="2200" b="1">
                <a:solidFill>
                  <a:srgbClr val="0B0B0B"/>
                </a:solidFill>
              </a:rPr>
              <a:t>Conclusions</a:t>
            </a:r>
          </a:p>
        </p:txBody>
      </p:sp>
      <p:cxnSp>
        <p:nvCxnSpPr>
          <p:cNvPr id="3" name="Connector 2"/>
          <p:cNvCxnSpPr/>
          <p:nvPr/>
        </p:nvCxnSpPr>
        <p:spPr>
          <a:xfrm>
            <a:off x="457200" y="1371600"/>
            <a:ext cx="11274552" cy="0"/>
          </a:xfrm>
          <a:prstGeom prst="line">
            <a:avLst/>
          </a:prstGeom>
          <a:ln>
            <a:solidFill>
              <a:srgbClr val="E1E0D9"/>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57200" y="1554480"/>
            <a:ext cx="11247120" cy="4846320"/>
          </a:xfrm>
          <a:prstGeom prst="rect">
            <a:avLst/>
          </a:prstGeom>
          <a:noFill/>
        </p:spPr>
        <p:txBody>
          <a:bodyPr wrap="square" anchor="t" lIns="45720" rIns="45720">
            <a:spAutoFit/>
          </a:bodyPr>
          <a:lstStyle/>
          <a:p>
            <a:pPr algn="l">
              <a:spcAft>
                <a:spcPts val="600"/>
              </a:spcAft>
            </a:pPr>
            <a:r>
              <a:rPr sz="1600" b="0">
                <a:solidFill>
                  <a:srgbClr val="0B0B0B"/>
                </a:solidFill>
              </a:rPr>
              <a:t>•  Extract on demand as a safety net, but read every plausibly useful column up front: patching keeps accuracy when the workload drifts, and anticipating is 2.7–5.9× cheaper than patching later.</a:t>
            </a:r>
          </a:p>
          <a:p>
            <a:pPr algn="l">
              <a:spcAft>
                <a:spcPts val="600"/>
              </a:spcAft>
            </a:pPr>
            <a:r>
              <a:rPr sz="1600" b="0">
                <a:solidFill>
                  <a:srgbClr val="0B0B0B"/>
                </a:solidFill>
              </a:rPr>
              <a:t>•  Most of the cost under drift is a handful of whole-corpus extractions, each paid once and reused; reuse and scoping keep it small (cents per corpus at small-model prices, 5–25× below DocETL).</a:t>
            </a:r>
          </a:p>
          <a:p>
            <a:pPr algn="l">
              <a:spcAft>
                <a:spcPts val="600"/>
              </a:spcAft>
            </a:pPr>
            <a:r>
              <a:rPr sz="1600" b="0">
                <a:solidFill>
                  <a:srgbClr val="0B0B0B"/>
                </a:solidFill>
              </a:rPr>
              <a:t>•  Accuracy is set by what the model is told and how values are stored, not by budgeting or prompt width: field descriptions and value normalization matter most; prompt grouping changes values in a corpus-specific direction.</a:t>
            </a:r>
          </a:p>
          <a:p>
            <a:pPr algn="l">
              <a:spcAft>
                <a:spcPts val="600"/>
              </a:spcAft>
            </a:pPr>
            <a:r>
              <a:rPr sz="1600" b="0">
                <a:solidFill>
                  <a:srgbClr val="0B0B0B"/>
                </a:solidFill>
              </a:rPr>
              <a:t>•  Simple budget policies and even a hindsight plan do not beat spending first-come-first-served; a planner needs an objective that estimates accuracy, not agreement with its own extractions.</a:t>
            </a:r>
          </a:p>
          <a:p>
            <a:pPr algn="l">
              <a:spcAft>
                <a:spcPts val="600"/>
              </a:spcAft>
            </a:pPr>
            <a:r>
              <a:rPr sz="1600" b="0">
                <a:solidFill>
                  <a:srgbClr val="0B0B0B"/>
                </a:solidFill>
              </a:rPr>
              <a:t>•  A larger model raises accuracy at the same extraction cost; the system-level conclusions hold across models.</a:t>
            </a:r>
          </a:p>
          <a:p>
            <a:pPr algn="l">
              <a:spcAft>
                <a:spcPts val="600"/>
              </a:spcAft>
            </a:pPr>
            <a:r>
              <a:rPr sz="1600" b="0">
                <a:solidFill>
                  <a:srgbClr val="0B0B0B"/>
                </a:solidFill>
              </a:rPr>
              <a:t>•  The benchmark itself limits scores: "never null" metadata that its gold data contradicts, and values judged by exact 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